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7" r:id="rId6"/>
    <p:sldId id="298"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000"/>
    <a:srgbClr val="FFFFFF"/>
    <a:srgbClr val="E2E8F0"/>
    <a:srgbClr val="FFC107"/>
    <a:srgbClr val="10B981"/>
    <a:srgbClr val="FF6B00"/>
    <a:srgbClr val="0B1E3F"/>
    <a:srgbClr val="F5F7FA"/>
    <a:srgbClr val="0070C0"/>
    <a:srgbClr val="9BBB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4" autoAdjust="0"/>
    <p:restoredTop sz="94660"/>
  </p:normalViewPr>
  <p:slideViewPr>
    <p:cSldViewPr snapToGrid="0" snapToObjects="1">
      <p:cViewPr varScale="1">
        <p:scale>
          <a:sx n="95" d="100"/>
          <a:sy n="95" d="100"/>
        </p:scale>
        <p:origin x="82" y="216"/>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9/24/2026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39386-45A7-ECB0-BB02-F9DA06EB7672}"/>
            </a:ext>
          </a:extLst>
        </p:cNvPr>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5274F8AC-8C6C-6792-1617-05053387FA31}"/>
              </a:ext>
            </a:extLst>
          </p:cNvPr>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a:extLst>
              <a:ext uri="{FF2B5EF4-FFF2-40B4-BE49-F238E27FC236}">
                <a16:creationId xmlns:a16="http://schemas.microsoft.com/office/drawing/2014/main" id="{21D7AB05-7E0C-B6E4-13DE-44FAA1A079E5}"/>
              </a:ext>
            </a:extLst>
          </p:cNvPr>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a:extLst>
              <a:ext uri="{FF2B5EF4-FFF2-40B4-BE49-F238E27FC236}">
                <a16:creationId xmlns:a16="http://schemas.microsoft.com/office/drawing/2014/main" id="{2962F72D-81B8-6BFB-E3C3-9F676502C6E3}"/>
              </a:ext>
            </a:extLst>
          </p:cNvPr>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4686600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6A939-B209-0032-75BD-22A86E9EF000}"/>
            </a:ext>
          </a:extLst>
        </p:cNvPr>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484468EF-9BB1-FA76-2BD5-1E2144A850F0}"/>
              </a:ext>
            </a:extLst>
          </p:cNvPr>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a:extLst>
              <a:ext uri="{FF2B5EF4-FFF2-40B4-BE49-F238E27FC236}">
                <a16:creationId xmlns:a16="http://schemas.microsoft.com/office/drawing/2014/main" id="{526A5B14-939E-B3AB-1601-A55EDD1339AF}"/>
              </a:ext>
            </a:extLst>
          </p:cNvPr>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a:extLst>
              <a:ext uri="{FF2B5EF4-FFF2-40B4-BE49-F238E27FC236}">
                <a16:creationId xmlns:a16="http://schemas.microsoft.com/office/drawing/2014/main" id="{5A9A73FB-137D-5E03-8100-C0A716BDEFD0}"/>
              </a:ext>
            </a:extLst>
          </p:cNvPr>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4184230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356353"/>
            <a:ext cx="2844800" cy="365125"/>
          </a:xfrm>
          <a:prstGeom prst="rect">
            <a:avLst/>
          </a:prstGeom>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2064" y="1501"/>
            <a:ext cx="12354064" cy="1141502"/>
          </a:xfrm>
        </p:spPr>
        <p:txBody>
          <a:bodyPr/>
          <a:lstStyle>
            <a:lvl1pPr>
              <a:defRPr sz="3200"/>
            </a:lvl1pPr>
          </a:lstStyle>
          <a:p>
            <a:endParaRPr lang="en-US"/>
          </a:p>
        </p:txBody>
      </p:sp>
      <p:sp>
        <p:nvSpPr>
          <p:cNvPr id="3" name="Content Placeholder 2"/>
          <p:cNvSpPr>
            <a:spLocks noGrp="1"/>
          </p:cNvSpPr>
          <p:nvPr>
            <p:ph idx="1"/>
          </p:nvPr>
        </p:nvSpPr>
        <p:spPr>
          <a:xfrm>
            <a:off x="609600" y="1325565"/>
            <a:ext cx="10972800" cy="5030788"/>
          </a:xfrm>
        </p:spPr>
        <p:txBody>
          <a:bodyPr/>
          <a:lstStyle>
            <a:lvl1pPr marL="0" indent="0">
              <a:buNone/>
              <a:defRPr/>
            </a:lvl1pPr>
          </a:lstStyle>
          <a:p>
            <a:pPr lvl="0"/>
            <a:endParaRPr lang="en-US"/>
          </a:p>
        </p:txBody>
      </p:sp>
      <p:sp>
        <p:nvSpPr>
          <p:cNvPr id="4" name="Date Placeholder 3"/>
          <p:cNvSpPr>
            <a:spLocks noGrp="1"/>
          </p:cNvSpPr>
          <p:nvPr>
            <p:ph type="dt" sz="half" idx="10"/>
          </p:nvPr>
        </p:nvSpPr>
        <p:spPr>
          <a:xfrm>
            <a:off x="609600" y="6356353"/>
            <a:ext cx="2844800" cy="365125"/>
          </a:xfrm>
          <a:prstGeom prst="rect">
            <a:avLst/>
          </a:prstGeom>
        </p:spPr>
        <p:txBody>
          <a:bodyPr/>
          <a:lstStyle>
            <a:lvl1pPr>
              <a:defRPr/>
            </a:lvl1pPr>
          </a:lstStyle>
          <a:p>
            <a:endParaRPr lang="en-US"/>
          </a:p>
        </p:txBody>
      </p:sp>
      <p:sp>
        <p:nvSpPr>
          <p:cNvPr id="5" name="Footer Placeholder 4"/>
          <p:cNvSpPr>
            <a:spLocks noGrp="1"/>
          </p:cNvSpPr>
          <p:nvPr>
            <p:ph type="ftr" sz="quarter" idx="11"/>
          </p:nvPr>
        </p:nvSpPr>
        <p:spPr>
          <a:xfrm>
            <a:off x="4165600" y="6491374"/>
            <a:ext cx="3860800" cy="365125"/>
          </a:xfrm>
        </p:spPr>
        <p:txBody>
          <a:bodyPr/>
          <a:lstStyle>
            <a:lvl1pPr>
              <a:defRPr/>
            </a:lvl1pPr>
          </a:lstStyle>
          <a:p>
            <a:pPr>
              <a:defRPr/>
            </a:pPr>
            <a:r>
              <a:rPr lang="en-US"/>
              <a:t>@SIH Idea submission</a:t>
            </a:r>
          </a:p>
          <a:p>
            <a:pPr>
              <a:defRPr/>
            </a:pPr>
            <a:endParaRPr lang="en-US"/>
          </a:p>
        </p:txBody>
      </p:sp>
      <p:sp>
        <p:nvSpPr>
          <p:cNvPr id="6" name="Slide Number Placeholder 5"/>
          <p:cNvSpPr>
            <a:spLocks noGrp="1"/>
          </p:cNvSpPr>
          <p:nvPr>
            <p:ph type="sldNum" sz="quarter" idx="12"/>
          </p:nvPr>
        </p:nvSpPr>
        <p:spPr>
          <a:xfrm>
            <a:off x="8737600" y="6491373"/>
            <a:ext cx="2844800" cy="365125"/>
          </a:xfrm>
        </p:spPr>
        <p:txBody>
          <a:bodyPr/>
          <a:lstStyle>
            <a:lvl1pPr>
              <a:defRPr/>
            </a:lvl1pPr>
          </a:lstStyle>
          <a:p>
            <a:fld id="{677C3CE7-23F7-4828-823C-E0205DF2CF97}" type="slidenum">
              <a:rPr lang="en-US"/>
              <a:pPr/>
              <a:t>‹#›</a:t>
            </a:fld>
            <a:endParaRPr lang="en-US"/>
          </a:p>
        </p:txBody>
      </p:sp>
      <p:pic>
        <p:nvPicPr>
          <p:cNvPr id="10" name="Picture 9">
            <a:extLst>
              <a:ext uri="{FF2B5EF4-FFF2-40B4-BE49-F238E27FC236}">
                <a16:creationId xmlns:a16="http://schemas.microsoft.com/office/drawing/2014/main" id="{CC00683D-6A2F-3E3A-68AC-EB1CE60C0B7C}"/>
              </a:ext>
            </a:extLst>
          </p:cNvPr>
          <p:cNvPicPr>
            <a:picLocks noChangeAspect="1"/>
          </p:cNvPicPr>
          <p:nvPr userDrawn="1"/>
        </p:nvPicPr>
        <p:blipFill>
          <a:blip r:embed="rId2"/>
          <a:stretch>
            <a:fillRect/>
          </a:stretch>
        </p:blipFill>
        <p:spPr>
          <a:xfrm>
            <a:off x="-389467" y="30598"/>
            <a:ext cx="2249850" cy="1033239"/>
          </a:xfrm>
          <a:prstGeom prst="rect">
            <a:avLst/>
          </a:prstGeom>
        </p:spPr>
      </p:pic>
      <p:pic>
        <p:nvPicPr>
          <p:cNvPr id="11" name="Picture 10">
            <a:extLst>
              <a:ext uri="{FF2B5EF4-FFF2-40B4-BE49-F238E27FC236}">
                <a16:creationId xmlns:a16="http://schemas.microsoft.com/office/drawing/2014/main" id="{4705B9BC-B814-351D-E555-B7B7DE7EBC0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82843" y="145814"/>
            <a:ext cx="1732785" cy="81462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3"/>
            <a:ext cx="2844800" cy="365125"/>
          </a:xfrm>
          <a:prstGeom prst="rect">
            <a:avLst/>
          </a:prstGeom>
        </p:spPr>
        <p:txBody>
          <a:bodyPr/>
          <a:lstStyle>
            <a:lvl1pPr>
              <a:defRPr/>
            </a:lvl1pPr>
          </a:lstStyle>
          <a:p>
            <a:fld id="{1E994447-D6B2-43BB-A877-57F1A267B999}" type="datetime1">
              <a:rPr lang="en-US" smtClean="0"/>
              <a:t>9/24/2026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a:xfrm>
            <a:off x="609600" y="6356353"/>
            <a:ext cx="2844800" cy="365125"/>
          </a:xfrm>
          <a:prstGeom prst="rect">
            <a:avLst/>
          </a:prstGeom>
        </p:spPr>
        <p:txBody>
          <a:bodyPr/>
          <a:lstStyle>
            <a:lvl1pPr>
              <a:defRPr/>
            </a:lvl1pPr>
          </a:lstStyle>
          <a:p>
            <a:fld id="{68920E16-BD35-483C-AA6B-346FC7E46DEA}" type="datetime1">
              <a:rPr lang="en-US" smtClean="0"/>
              <a:t>9/24/2026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09600" y="6356353"/>
            <a:ext cx="2844800" cy="365125"/>
          </a:xfrm>
          <a:prstGeom prst="rect">
            <a:avLst/>
          </a:prstGeom>
        </p:spPr>
        <p:txBody>
          <a:bodyPr/>
          <a:lstStyle>
            <a:lvl1pPr>
              <a:defRPr/>
            </a:lvl1pPr>
          </a:lstStyle>
          <a:p>
            <a:fld id="{2FEAC6F8-5103-4FC0-A69E-5C6AE6469DA8}" type="datetime1">
              <a:rPr lang="en-US" smtClean="0"/>
              <a:t>9/24/2026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a:xfrm>
            <a:off x="609600" y="6356353"/>
            <a:ext cx="2844800" cy="365125"/>
          </a:xfrm>
          <a:prstGeom prst="rect">
            <a:avLst/>
          </a:prstGeom>
        </p:spPr>
        <p:txBody>
          <a:bodyPr/>
          <a:lstStyle>
            <a:lvl1pPr>
              <a:defRPr/>
            </a:lvl1pPr>
          </a:lstStyle>
          <a:p>
            <a:fld id="{C60C6921-0627-4C8F-83D5-0CF936D2FFDD}" type="datetime1">
              <a:rPr lang="en-US" smtClean="0"/>
              <a:t>9/24/2026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09600" y="6356353"/>
            <a:ext cx="2844800" cy="365125"/>
          </a:xfrm>
          <a:prstGeom prst="rect">
            <a:avLst/>
          </a:prstGeom>
        </p:spPr>
        <p:txBody>
          <a:bodyPr/>
          <a:lstStyle>
            <a:lvl1pPr>
              <a:defRPr/>
            </a:lvl1pPr>
          </a:lstStyle>
          <a:p>
            <a:fld id="{2FF08AD7-8103-40F8-983C-E2BA6BB9CBE0}" type="datetime1">
              <a:rPr lang="en-US" smtClean="0"/>
              <a:t>9/24/2026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609600" y="6356353"/>
            <a:ext cx="2844800" cy="365125"/>
          </a:xfrm>
          <a:prstGeom prst="rect">
            <a:avLst/>
          </a:prstGeom>
        </p:spPr>
        <p:txBody>
          <a:bodyPr/>
          <a:lstStyle>
            <a:lvl1pPr>
              <a:defRPr/>
            </a:lvl1pPr>
          </a:lstStyle>
          <a:p>
            <a:fld id="{DF8C06B4-9380-4A4D-AF49-A3596E17DAF5}" type="datetime1">
              <a:rPr lang="en-US" smtClean="0"/>
              <a:t>9/24/2026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609600" y="6356353"/>
            <a:ext cx="2844800" cy="365125"/>
          </a:xfrm>
          <a:prstGeom prst="rect">
            <a:avLst/>
          </a:prstGeom>
        </p:spPr>
        <p:txBody>
          <a:bodyPr/>
          <a:lstStyle>
            <a:lvl1pPr>
              <a:defRPr/>
            </a:lvl1pPr>
          </a:lstStyle>
          <a:p>
            <a:fld id="{EF7FDEF1-C582-4E22-9E77-D68326471F28}" type="datetime1">
              <a:rPr lang="en-US" smtClean="0"/>
              <a:t>9/24/2026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3"/>
            <a:ext cx="2844800" cy="365125"/>
          </a:xfrm>
          <a:prstGeom prst="rect">
            <a:avLst/>
          </a:prstGeom>
        </p:spPr>
        <p:txBody>
          <a:bodyPr/>
          <a:lstStyle>
            <a:lvl1pPr>
              <a:defRPr/>
            </a:lvl1pPr>
          </a:lstStyle>
          <a:p>
            <a:fld id="{053C3A68-6922-42D3-8905-ECC2D82A3469}" type="datetime1">
              <a:rPr lang="en-US" smtClean="0"/>
              <a:t>9/24/2026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3"/>
            <a:ext cx="2844800" cy="365125"/>
          </a:xfrm>
          <a:prstGeom prst="rect">
            <a:avLst/>
          </a:prstGeom>
        </p:spPr>
        <p:txBody>
          <a:bodyPr/>
          <a:lstStyle>
            <a:lvl1pPr>
              <a:defRPr/>
            </a:lvl1pPr>
          </a:lstStyle>
          <a:p>
            <a:fld id="{CB69E9F4-7604-4950-A8B2-8ACDEDB1506E}" type="datetime1">
              <a:rPr lang="en-US" smtClean="0"/>
              <a:t>9/24/2026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7966"/>
            <a:ext cx="12192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165600" y="6473366"/>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a:t>
            </a:r>
          </a:p>
        </p:txBody>
      </p:sp>
      <p:sp>
        <p:nvSpPr>
          <p:cNvPr id="6" name="Slide Number Placeholder 5"/>
          <p:cNvSpPr>
            <a:spLocks noGrp="1"/>
          </p:cNvSpPr>
          <p:nvPr>
            <p:ph type="sldNum" sz="quarter" idx="4"/>
          </p:nvPr>
        </p:nvSpPr>
        <p:spPr>
          <a:xfrm>
            <a:off x="8737600" y="647048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3000" b="1" kern="1200">
          <a:solidFill>
            <a:schemeClr val="tx1"/>
          </a:solidFill>
          <a:latin typeface="Aptos Display" panose="020B0004020202020204" pitchFamily="34" charset="0"/>
          <a:ea typeface="ＭＳ Ｐゴシック" charset="0"/>
          <a:cs typeface="Aptos Display" panose="020B0004020202020204" pitchFamily="34"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Aptos" panose="020B0004020202020204" pitchFamily="34" charset="0"/>
          <a:ea typeface="ＭＳ Ｐゴシック" charset="0"/>
          <a:cs typeface="Aptos" panose="020B0004020202020204" pitchFamily="34"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pib.gov.in/PressReleasePage.aspx?PRID=2255223&amp;lang=1&amp;reg=1&amp;ut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016/j.rse.2017.10.019" TargetMode="External"/><Relationship Id="rId7" Type="http://schemas.openxmlformats.org/officeDocument/2006/relationships/hyperlink" Target="https://doi.org/10.3390/rs16152842"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doi.org/10.5194/essd-18-6545-2026" TargetMode="External"/><Relationship Id="rId5" Type="http://schemas.openxmlformats.org/officeDocument/2006/relationships/hyperlink" Target="https://mdpi-res.com/d_attachment/remotesensing/remotesensing-18-00904/article_deploy/remotesensing-18-00904.pdf" TargetMode="External"/><Relationship Id="rId4" Type="http://schemas.openxmlformats.org/officeDocument/2006/relationships/hyperlink" Target="https://doi.org/10.1145/3633598.363360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Title 7"/>
          <p:cNvSpPr>
            <a:spLocks noGrp="1"/>
          </p:cNvSpPr>
          <p:nvPr>
            <p:ph type="ctrTitle" idx="4294967295"/>
          </p:nvPr>
        </p:nvSpPr>
        <p:spPr>
          <a:xfrm>
            <a:off x="331286" y="-526757"/>
            <a:ext cx="10336714"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pic>
        <p:nvPicPr>
          <p:cNvPr id="3" name="Picture 2">
            <a:extLst>
              <a:ext uri="{FF2B5EF4-FFF2-40B4-BE49-F238E27FC236}">
                <a16:creationId xmlns:a16="http://schemas.microsoft.com/office/drawing/2014/main" id="{9AA8B533-C657-6AF8-3342-D6B8727C9CA4}"/>
              </a:ext>
            </a:extLst>
          </p:cNvPr>
          <p:cNvPicPr>
            <a:picLocks noChangeAspect="1"/>
          </p:cNvPicPr>
          <p:nvPr/>
        </p:nvPicPr>
        <p:blipFill>
          <a:blip r:embed="rId2"/>
          <a:stretch>
            <a:fillRect/>
          </a:stretch>
        </p:blipFill>
        <p:spPr>
          <a:xfrm>
            <a:off x="6637799" y="2044399"/>
            <a:ext cx="3684071" cy="3810000"/>
          </a:xfrm>
          <a:prstGeom prst="rect">
            <a:avLst/>
          </a:prstGeom>
        </p:spPr>
      </p:pic>
      <p:sp>
        <p:nvSpPr>
          <p:cNvPr id="7" name="TextBox 6">
            <a:extLst>
              <a:ext uri="{FF2B5EF4-FFF2-40B4-BE49-F238E27FC236}">
                <a16:creationId xmlns:a16="http://schemas.microsoft.com/office/drawing/2014/main" id="{06F8750B-BACD-9AE8-3763-F724F86AAD5E}"/>
              </a:ext>
            </a:extLst>
          </p:cNvPr>
          <p:cNvSpPr txBox="1"/>
          <p:nvPr/>
        </p:nvSpPr>
        <p:spPr>
          <a:xfrm>
            <a:off x="483517" y="755774"/>
            <a:ext cx="10766560" cy="5532861"/>
          </a:xfrm>
          <a:prstGeom prst="rect">
            <a:avLst/>
          </a:prstGeom>
          <a:noFill/>
        </p:spPr>
        <p:txBody>
          <a:bodyPr wrap="square">
            <a:spAutoFit/>
          </a:bodyPr>
          <a:lstStyle/>
          <a:p>
            <a:endParaRPr lang="en-US" sz="2400" dirty="0">
              <a:latin typeface="Aptos" panose="020B0004020202020204" pitchFamily="34" charset="0"/>
            </a:endParaRPr>
          </a:p>
          <a:p>
            <a:pPr marL="285750" indent="-285750" algn="just">
              <a:lnSpc>
                <a:spcPct val="200000"/>
              </a:lnSpc>
              <a:buFont typeface="Arial" panose="020B0604020202020204" pitchFamily="34" charset="0"/>
              <a:buChar char="•"/>
            </a:pPr>
            <a:r>
              <a:rPr lang="en-US" sz="2400" b="1" dirty="0">
                <a:latin typeface="Aptos" panose="020B0004020202020204" pitchFamily="34" charset="0"/>
                <a:cs typeface="Times New Roman" panose="02020603050405020304" pitchFamily="18" charset="0"/>
              </a:rPr>
              <a:t>Problem Statement ID </a:t>
            </a:r>
            <a:r>
              <a:rPr lang="en-US" sz="2400" b="1" dirty="0">
                <a:latin typeface="Aptos" panose="020B0004020202020204" pitchFamily="34" charset="0"/>
                <a:cs typeface="Arial" panose="020B0604020202020204" pitchFamily="34" charset="0"/>
              </a:rPr>
              <a:t>– </a:t>
            </a:r>
            <a:r>
              <a:rPr lang="en-US" sz="2400" dirty="0">
                <a:latin typeface="Aptos" panose="020B0004020202020204" pitchFamily="34" charset="0"/>
                <a:cs typeface="Times New Roman" panose="02020603050405020304" pitchFamily="18" charset="0"/>
              </a:rPr>
              <a:t>SIH</a:t>
            </a:r>
            <a:r>
              <a:rPr lang="en-IN" sz="2400" dirty="0">
                <a:latin typeface="Aptos" panose="020B0004020202020204" pitchFamily="34" charset="0"/>
                <a:cs typeface="Times New Roman" panose="02020603050405020304" pitchFamily="18" charset="0"/>
              </a:rPr>
              <a:t>26162</a:t>
            </a:r>
            <a:endParaRPr lang="en-US" sz="2400" dirty="0">
              <a:latin typeface="Aptos" panose="020B0004020202020204" pitchFamily="34" charset="0"/>
              <a:cs typeface="Times New Roman" panose="02020603050405020304" pitchFamily="18" charset="0"/>
            </a:endParaRPr>
          </a:p>
          <a:p>
            <a:pPr marL="285750" indent="-285750" algn="just">
              <a:lnSpc>
                <a:spcPct val="200000"/>
              </a:lnSpc>
              <a:buFont typeface="Arial" panose="020B0604020202020204" pitchFamily="34" charset="0"/>
              <a:buChar char="•"/>
            </a:pPr>
            <a:r>
              <a:rPr lang="en-US" sz="2400" b="1" dirty="0">
                <a:latin typeface="Aptos" panose="020B0004020202020204" pitchFamily="34" charset="0"/>
                <a:cs typeface="Times New Roman" panose="02020603050405020304" pitchFamily="18" charset="0"/>
              </a:rPr>
              <a:t>Problem Statement Title</a:t>
            </a:r>
            <a:r>
              <a:rPr lang="en-US" sz="2400" dirty="0">
                <a:latin typeface="Aptos" panose="020B0004020202020204" pitchFamily="34" charset="0"/>
                <a:cs typeface="Times New Roman" panose="02020603050405020304" pitchFamily="18" charset="0"/>
              </a:rPr>
              <a:t> -</a:t>
            </a:r>
            <a:r>
              <a:rPr lang="en-GB" sz="2400" dirty="0"/>
              <a:t>AI-Based Detection and Classification of Industrial Fires and Persistent Thermal Sources Using NASA FIRMS, OSM &amp; Satellite Data</a:t>
            </a:r>
            <a:endParaRPr lang="en-US" sz="2400" dirty="0">
              <a:latin typeface="Aptos" panose="020B0004020202020204" pitchFamily="34" charset="0"/>
              <a:cs typeface="Times New Roman" panose="02020603050405020304" pitchFamily="18" charset="0"/>
            </a:endParaRPr>
          </a:p>
          <a:p>
            <a:pPr marL="285750" indent="-285750" algn="just">
              <a:lnSpc>
                <a:spcPct val="200000"/>
              </a:lnSpc>
              <a:buFont typeface="Arial" panose="020B0604020202020204" pitchFamily="34" charset="0"/>
              <a:buChar char="•"/>
            </a:pPr>
            <a:r>
              <a:rPr lang="en-US" sz="2400" b="1" dirty="0">
                <a:latin typeface="Aptos" panose="020B0004020202020204" pitchFamily="34" charset="0"/>
                <a:cs typeface="Times New Roman" panose="02020603050405020304" pitchFamily="18" charset="0"/>
              </a:rPr>
              <a:t>Theme - </a:t>
            </a:r>
            <a:r>
              <a:rPr lang="en-IN" sz="2400" dirty="0"/>
              <a:t>Disaster Management</a:t>
            </a:r>
          </a:p>
          <a:p>
            <a:pPr marL="285750" indent="-285750" algn="just">
              <a:lnSpc>
                <a:spcPct val="200000"/>
              </a:lnSpc>
              <a:buFont typeface="Arial" panose="020B0604020202020204" pitchFamily="34" charset="0"/>
              <a:buChar char="•"/>
            </a:pPr>
            <a:r>
              <a:rPr lang="en-US" sz="2400" b="1" dirty="0">
                <a:latin typeface="Aptos" panose="020B0004020202020204" pitchFamily="34" charset="0"/>
                <a:cs typeface="Times New Roman" panose="02020603050405020304" pitchFamily="18" charset="0"/>
              </a:rPr>
              <a:t>PS Category- </a:t>
            </a:r>
            <a:r>
              <a:rPr lang="en-US" sz="2400" dirty="0">
                <a:latin typeface="Aptos" panose="020B0004020202020204" pitchFamily="34" charset="0"/>
                <a:cs typeface="Times New Roman" panose="02020603050405020304" pitchFamily="18" charset="0"/>
              </a:rPr>
              <a:t>Software</a:t>
            </a:r>
          </a:p>
          <a:p>
            <a:pPr marL="285750" indent="-285750" algn="just">
              <a:lnSpc>
                <a:spcPct val="200000"/>
              </a:lnSpc>
              <a:buFont typeface="Arial" panose="020B0604020202020204" pitchFamily="34" charset="0"/>
              <a:buChar char="•"/>
            </a:pPr>
            <a:r>
              <a:rPr lang="en-US" sz="2400" b="1" dirty="0">
                <a:latin typeface="Aptos" panose="020B0004020202020204" pitchFamily="34" charset="0"/>
                <a:cs typeface="Times New Roman" panose="02020603050405020304" pitchFamily="18" charset="0"/>
              </a:rPr>
              <a:t>Team ID - </a:t>
            </a:r>
            <a:r>
              <a:rPr lang="en-US" sz="2400" dirty="0">
                <a:latin typeface="Aptos" panose="020B0004020202020204" pitchFamily="34" charset="0"/>
                <a:cs typeface="Times New Roman" panose="02020603050405020304" pitchFamily="18" charset="0"/>
              </a:rPr>
              <a:t>SIH26-A0H-T316</a:t>
            </a:r>
          </a:p>
          <a:p>
            <a:pPr marL="285750" indent="-285750" algn="just">
              <a:lnSpc>
                <a:spcPct val="200000"/>
              </a:lnSpc>
              <a:buFont typeface="Arial" panose="020B0604020202020204" pitchFamily="34" charset="0"/>
              <a:buChar char="•"/>
            </a:pPr>
            <a:r>
              <a:rPr lang="en-US" sz="2400" b="1" dirty="0">
                <a:latin typeface="Aptos" panose="020B0004020202020204" pitchFamily="34" charset="0"/>
                <a:cs typeface="Times New Roman" panose="02020603050405020304" pitchFamily="18" charset="0"/>
              </a:rPr>
              <a:t>Team </a:t>
            </a:r>
            <a:r>
              <a:rPr lang="en-US" sz="2400" b="1">
                <a:latin typeface="Aptos" panose="020B0004020202020204" pitchFamily="34" charset="0"/>
                <a:cs typeface="Times New Roman" panose="02020603050405020304" pitchFamily="18" charset="0"/>
              </a:rPr>
              <a:t>Name - </a:t>
            </a:r>
            <a:r>
              <a:rPr lang="en-US" sz="2400">
                <a:latin typeface="Aptos" panose="020B0004020202020204" pitchFamily="34" charset="0"/>
                <a:cs typeface="Times New Roman" panose="02020603050405020304" pitchFamily="18" charset="0"/>
              </a:rPr>
              <a:t>HACK PROCESSING UNIT</a:t>
            </a:r>
            <a:endParaRPr lang="en-IN" sz="2400" dirty="0">
              <a:latin typeface="Aptos" panose="020B0004020202020204" pitchFamily="34" charset="0"/>
              <a:cs typeface="Times New Roman" panose="02020603050405020304" pitchFamily="18" charset="0"/>
            </a:endParaRPr>
          </a:p>
        </p:txBody>
      </p:sp>
      <p:pic>
        <p:nvPicPr>
          <p:cNvPr id="14" name="Picture 13">
            <a:extLst>
              <a:ext uri="{FF2B5EF4-FFF2-40B4-BE49-F238E27FC236}">
                <a16:creationId xmlns:a16="http://schemas.microsoft.com/office/drawing/2014/main" id="{E77B4E1A-479E-9CC3-2940-4C819CAFF7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2843" y="145814"/>
            <a:ext cx="1732785" cy="81462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Rounded Corners 37">
            <a:extLst>
              <a:ext uri="{FF2B5EF4-FFF2-40B4-BE49-F238E27FC236}">
                <a16:creationId xmlns:a16="http://schemas.microsoft.com/office/drawing/2014/main" id="{72DAC15C-F116-EA2B-0BF2-25009E1FBB68}"/>
              </a:ext>
            </a:extLst>
          </p:cNvPr>
          <p:cNvSpPr/>
          <p:nvPr/>
        </p:nvSpPr>
        <p:spPr>
          <a:xfrm>
            <a:off x="56674" y="1056136"/>
            <a:ext cx="4568827" cy="1420996"/>
          </a:xfrm>
          <a:prstGeom prst="roundRect">
            <a:avLst>
              <a:gd name="adj" fmla="val 7753"/>
            </a:avLst>
          </a:prstGeom>
          <a:ln w="6350"/>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 name="Rectangle 8"/>
          <p:cNvSpPr>
            <a:spLocks noChangeArrowheads="1"/>
          </p:cNvSpPr>
          <p:nvPr/>
        </p:nvSpPr>
        <p:spPr bwMode="auto">
          <a:xfrm>
            <a:off x="0" y="6442485"/>
            <a:ext cx="12191999" cy="440860"/>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a:t>
            </a:r>
          </a:p>
        </p:txBody>
      </p:sp>
      <p:sp>
        <p:nvSpPr>
          <p:cNvPr id="2" name="Rectangle: Rounded Corners 1">
            <a:extLst>
              <a:ext uri="{FF2B5EF4-FFF2-40B4-BE49-F238E27FC236}">
                <a16:creationId xmlns:a16="http://schemas.microsoft.com/office/drawing/2014/main" id="{006FD507-2DC9-E002-756F-9ED34037A06B}"/>
              </a:ext>
            </a:extLst>
          </p:cNvPr>
          <p:cNvSpPr/>
          <p:nvPr/>
        </p:nvSpPr>
        <p:spPr>
          <a:xfrm>
            <a:off x="45978" y="2578238"/>
            <a:ext cx="4589112" cy="3798658"/>
          </a:xfrm>
          <a:prstGeom prst="roundRect">
            <a:avLst>
              <a:gd name="adj" fmla="val 1622"/>
            </a:avLst>
          </a:prstGeom>
          <a:solidFill>
            <a:schemeClr val="bg1"/>
          </a:solidFill>
          <a:ln w="63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a:t>AsseExplass &amp; Enhance</a:t>
            </a:r>
          </a:p>
        </p:txBody>
      </p:sp>
      <p:sp>
        <p:nvSpPr>
          <p:cNvPr id="3" name="Rectangle: Rounded Corners 2">
            <a:extLst>
              <a:ext uri="{FF2B5EF4-FFF2-40B4-BE49-F238E27FC236}">
                <a16:creationId xmlns:a16="http://schemas.microsoft.com/office/drawing/2014/main" id="{CE7D3C15-0918-838E-8E9A-EFC49DD2A0C6}"/>
              </a:ext>
            </a:extLst>
          </p:cNvPr>
          <p:cNvSpPr/>
          <p:nvPr/>
        </p:nvSpPr>
        <p:spPr>
          <a:xfrm>
            <a:off x="8636771" y="1069999"/>
            <a:ext cx="3436811" cy="5283261"/>
          </a:xfrm>
          <a:prstGeom prst="roundRect">
            <a:avLst>
              <a:gd name="adj" fmla="val 2666"/>
            </a:avLst>
          </a:prstGeom>
          <a:solidFill>
            <a:schemeClr val="bg1"/>
          </a:solidFill>
          <a:ln w="63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5ACF3A8E-DFE4-0E89-0D93-8B008303B083}"/>
              </a:ext>
            </a:extLst>
          </p:cNvPr>
          <p:cNvSpPr/>
          <p:nvPr/>
        </p:nvSpPr>
        <p:spPr>
          <a:xfrm>
            <a:off x="4717376" y="3553366"/>
            <a:ext cx="3805829" cy="2802985"/>
          </a:xfrm>
          <a:prstGeom prst="roundRect">
            <a:avLst>
              <a:gd name="adj" fmla="val 5357"/>
            </a:avLst>
          </a:prstGeom>
          <a:solidFill>
            <a:schemeClr val="bg1"/>
          </a:solidFill>
          <a:ln w="63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64994F75-8E87-C3EC-9258-474E8A0C9EC5}"/>
              </a:ext>
            </a:extLst>
          </p:cNvPr>
          <p:cNvSpPr/>
          <p:nvPr/>
        </p:nvSpPr>
        <p:spPr>
          <a:xfrm>
            <a:off x="4718447" y="1070001"/>
            <a:ext cx="3804759" cy="2359000"/>
          </a:xfrm>
          <a:prstGeom prst="roundRect">
            <a:avLst>
              <a:gd name="adj" fmla="val 3974"/>
            </a:avLst>
          </a:prstGeom>
          <a:solidFill>
            <a:schemeClr val="bg1"/>
          </a:solidFill>
          <a:ln w="63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76C0363C-5E34-0818-B998-35D7EC1C7842}"/>
              </a:ext>
            </a:extLst>
          </p:cNvPr>
          <p:cNvSpPr txBox="1"/>
          <p:nvPr/>
        </p:nvSpPr>
        <p:spPr>
          <a:xfrm>
            <a:off x="56674" y="2561679"/>
            <a:ext cx="1582228" cy="292388"/>
          </a:xfrm>
          <a:prstGeom prst="rect">
            <a:avLst/>
          </a:prstGeom>
          <a:noFill/>
        </p:spPr>
        <p:txBody>
          <a:bodyPr wrap="none" rtlCol="0">
            <a:spAutoFit/>
          </a:bodyPr>
          <a:lstStyle/>
          <a:p>
            <a:r>
              <a:rPr lang="en-GB" sz="1300" b="1" u="sng">
                <a:latin typeface="Aptos" panose="020B0004020202020204" pitchFamily="34" charset="0"/>
              </a:rPr>
              <a:t>Proposed Solution</a:t>
            </a:r>
            <a:endParaRPr lang="en-IN" sz="1300" b="1" u="sng">
              <a:latin typeface="Aptos" panose="020B0004020202020204" pitchFamily="34" charset="0"/>
            </a:endParaRPr>
          </a:p>
        </p:txBody>
      </p:sp>
      <p:sp>
        <p:nvSpPr>
          <p:cNvPr id="15" name="TextBox 14">
            <a:extLst>
              <a:ext uri="{FF2B5EF4-FFF2-40B4-BE49-F238E27FC236}">
                <a16:creationId xmlns:a16="http://schemas.microsoft.com/office/drawing/2014/main" id="{1E36D0F7-532B-EF01-65AB-781E4366CD1C}"/>
              </a:ext>
            </a:extLst>
          </p:cNvPr>
          <p:cNvSpPr txBox="1"/>
          <p:nvPr/>
        </p:nvSpPr>
        <p:spPr>
          <a:xfrm>
            <a:off x="4673685" y="1048106"/>
            <a:ext cx="1692836" cy="292388"/>
          </a:xfrm>
          <a:prstGeom prst="rect">
            <a:avLst/>
          </a:prstGeom>
          <a:noFill/>
        </p:spPr>
        <p:txBody>
          <a:bodyPr wrap="none" rtlCol="0">
            <a:spAutoFit/>
          </a:bodyPr>
          <a:lstStyle/>
          <a:p>
            <a:r>
              <a:rPr lang="en-IN" sz="1300" b="1" u="sng">
                <a:latin typeface="Aptos" panose="020B0004020202020204" pitchFamily="34" charset="0"/>
              </a:rPr>
              <a:t> Addressing the Gap</a:t>
            </a:r>
          </a:p>
        </p:txBody>
      </p:sp>
      <p:sp>
        <p:nvSpPr>
          <p:cNvPr id="16" name="TextBox 15">
            <a:extLst>
              <a:ext uri="{FF2B5EF4-FFF2-40B4-BE49-F238E27FC236}">
                <a16:creationId xmlns:a16="http://schemas.microsoft.com/office/drawing/2014/main" id="{50E5985A-D233-46C7-1A81-46993B921CA8}"/>
              </a:ext>
            </a:extLst>
          </p:cNvPr>
          <p:cNvSpPr txBox="1"/>
          <p:nvPr/>
        </p:nvSpPr>
        <p:spPr>
          <a:xfrm>
            <a:off x="8675638" y="1035988"/>
            <a:ext cx="2073324" cy="292388"/>
          </a:xfrm>
          <a:prstGeom prst="rect">
            <a:avLst/>
          </a:prstGeom>
          <a:noFill/>
        </p:spPr>
        <p:txBody>
          <a:bodyPr wrap="none" rtlCol="0">
            <a:spAutoFit/>
          </a:bodyPr>
          <a:lstStyle/>
          <a:p>
            <a:r>
              <a:rPr lang="en-IN" sz="1300" b="1" u="sng">
                <a:latin typeface="Aptos" panose="020B0004020202020204" pitchFamily="34" charset="0"/>
              </a:rPr>
              <a:t>Innovation &amp; Uniqueness</a:t>
            </a:r>
          </a:p>
        </p:txBody>
      </p:sp>
      <p:sp>
        <p:nvSpPr>
          <p:cNvPr id="8" name="TextBox 7">
            <a:extLst>
              <a:ext uri="{FF2B5EF4-FFF2-40B4-BE49-F238E27FC236}">
                <a16:creationId xmlns:a16="http://schemas.microsoft.com/office/drawing/2014/main" id="{4C2BAEF1-8E1A-4017-15DF-BC4C1444788C}"/>
              </a:ext>
            </a:extLst>
          </p:cNvPr>
          <p:cNvSpPr txBox="1"/>
          <p:nvPr/>
        </p:nvSpPr>
        <p:spPr>
          <a:xfrm>
            <a:off x="63639" y="3412163"/>
            <a:ext cx="4493475" cy="461665"/>
          </a:xfrm>
          <a:prstGeom prst="rect">
            <a:avLst/>
          </a:prstGeom>
          <a:noFill/>
        </p:spPr>
        <p:txBody>
          <a:bodyPr wrap="square" rtlCol="0">
            <a:spAutoFit/>
          </a:bodyPr>
          <a:lstStyle/>
          <a:p>
            <a:pPr marL="285750" indent="-285750">
              <a:buSzPct val="110000"/>
              <a:buFont typeface="Arial" panose="020B0604020202020204" pitchFamily="34" charset="0"/>
              <a:buChar char="•"/>
            </a:pPr>
            <a:r>
              <a:rPr lang="en-GB" sz="1200" b="1">
                <a:latin typeface="Aptos" panose="020B0004020202020204" pitchFamily="34" charset="0"/>
              </a:rPr>
              <a:t>Classify</a:t>
            </a:r>
            <a:r>
              <a:rPr lang="en-GB" sz="1200">
                <a:latin typeface="Aptos" panose="020B0004020202020204" pitchFamily="34" charset="0"/>
              </a:rPr>
              <a:t> – The XGBoost model weighs the odds it's an industrial fire, wildfire, gas flare, mining activity, or farm burn.</a:t>
            </a:r>
            <a:endParaRPr lang="en-IN" sz="1200" b="1">
              <a:latin typeface="Aptos" panose="020B000402020202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1F8BA919-545A-1E47-556F-AA86836A4834}"/>
              </a:ext>
            </a:extLst>
          </p:cNvPr>
          <p:cNvSpPr txBox="1"/>
          <p:nvPr/>
        </p:nvSpPr>
        <p:spPr>
          <a:xfrm>
            <a:off x="2289564" y="3809265"/>
            <a:ext cx="4087714" cy="307777"/>
          </a:xfrm>
          <a:prstGeom prst="rect">
            <a:avLst/>
          </a:prstGeom>
          <a:noFill/>
        </p:spPr>
        <p:txBody>
          <a:bodyPr wrap="square" rtlCol="0">
            <a:spAutoFit/>
          </a:bodyPr>
          <a:lstStyle/>
          <a:p>
            <a:r>
              <a:rPr lang="en-IN" sz="1400" b="1">
                <a:latin typeface="Aptos" panose="020B0004020202020204" pitchFamily="34" charset="0"/>
              </a:rPr>
              <a:t> </a:t>
            </a:r>
          </a:p>
        </p:txBody>
      </p:sp>
      <p:sp>
        <p:nvSpPr>
          <p:cNvPr id="19" name="TextBox 18">
            <a:extLst>
              <a:ext uri="{FF2B5EF4-FFF2-40B4-BE49-F238E27FC236}">
                <a16:creationId xmlns:a16="http://schemas.microsoft.com/office/drawing/2014/main" id="{0BA97CD1-13D8-B94C-86BB-4B6A07C83EE5}"/>
              </a:ext>
            </a:extLst>
          </p:cNvPr>
          <p:cNvSpPr txBox="1"/>
          <p:nvPr/>
        </p:nvSpPr>
        <p:spPr>
          <a:xfrm>
            <a:off x="62542" y="5072714"/>
            <a:ext cx="4627202" cy="646331"/>
          </a:xfrm>
          <a:prstGeom prst="rect">
            <a:avLst/>
          </a:prstGeom>
          <a:noFill/>
        </p:spPr>
        <p:txBody>
          <a:bodyPr wrap="square" rtlCol="0">
            <a:spAutoFit/>
          </a:bodyPr>
          <a:lstStyle/>
          <a:p>
            <a:pPr marL="285750" indent="-285750">
              <a:buFont typeface="Arial" panose="020B0604020202020204" pitchFamily="34" charset="0"/>
              <a:buChar char="•"/>
            </a:pPr>
            <a:r>
              <a:rPr lang="en-GB" sz="1200" b="1">
                <a:latin typeface="Aptos" panose="020B0004020202020204" pitchFamily="34" charset="0"/>
              </a:rPr>
              <a:t>Optical Confirmation</a:t>
            </a:r>
            <a:r>
              <a:rPr lang="en-GB" sz="1200">
                <a:latin typeface="Aptos" panose="020B0004020202020204" pitchFamily="34" charset="0"/>
              </a:rPr>
              <a:t> – Sentinel-2 or Resourcesat fetches a real image of the site once an alert is confirmed, without ever delaying the alert itself.</a:t>
            </a:r>
            <a:endParaRPr lang="en-IN" sz="1200" b="1">
              <a:latin typeface="Aptos" panose="020B0004020202020204" pitchFamily="34" charset="0"/>
            </a:endParaRPr>
          </a:p>
        </p:txBody>
      </p:sp>
      <p:sp>
        <p:nvSpPr>
          <p:cNvPr id="20" name="TextBox 19">
            <a:extLst>
              <a:ext uri="{FF2B5EF4-FFF2-40B4-BE49-F238E27FC236}">
                <a16:creationId xmlns:a16="http://schemas.microsoft.com/office/drawing/2014/main" id="{75F9FB46-6236-B475-DA17-72D8981D0EDE}"/>
              </a:ext>
            </a:extLst>
          </p:cNvPr>
          <p:cNvSpPr txBox="1"/>
          <p:nvPr/>
        </p:nvSpPr>
        <p:spPr>
          <a:xfrm>
            <a:off x="19762" y="2796232"/>
            <a:ext cx="4645530" cy="646331"/>
          </a:xfrm>
          <a:prstGeom prst="rect">
            <a:avLst/>
          </a:prstGeom>
          <a:noFill/>
        </p:spPr>
        <p:txBody>
          <a:bodyPr wrap="square" rtlCol="0">
            <a:spAutoFit/>
          </a:bodyPr>
          <a:lstStyle/>
          <a:p>
            <a:pPr marL="319500" indent="-285750">
              <a:spcBef>
                <a:spcPts val="0"/>
              </a:spcBef>
              <a:spcAft>
                <a:spcPts val="0"/>
              </a:spcAft>
              <a:buSzPct val="115000"/>
              <a:buFont typeface="Arial" panose="020B0604020202020204" pitchFamily="34" charset="0"/>
              <a:buChar char="•"/>
            </a:pPr>
            <a:r>
              <a:rPr lang="en-GB" sz="1200" b="1">
                <a:latin typeface="Aptos" panose="020B0004020202020204" pitchFamily="34" charset="0"/>
              </a:rPr>
              <a:t>Ingest &amp; Fuse</a:t>
            </a:r>
            <a:r>
              <a:rPr lang="en-GB" sz="1200">
                <a:latin typeface="Aptos" panose="020B0004020202020204" pitchFamily="34" charset="0"/>
              </a:rPr>
              <a:t> – Pulls INSAT-3D/3DR and NASA FIRMS thermal alerts, joins it with facility, Bhuvan land-cover, and flare-catalog data, and estimates fire intensity in megawatts.</a:t>
            </a:r>
          </a:p>
        </p:txBody>
      </p:sp>
      <p:sp>
        <p:nvSpPr>
          <p:cNvPr id="21" name="TextBox 20">
            <a:extLst>
              <a:ext uri="{FF2B5EF4-FFF2-40B4-BE49-F238E27FC236}">
                <a16:creationId xmlns:a16="http://schemas.microsoft.com/office/drawing/2014/main" id="{7CD455BB-7573-0EB5-10C6-2802373163E4}"/>
              </a:ext>
            </a:extLst>
          </p:cNvPr>
          <p:cNvSpPr txBox="1"/>
          <p:nvPr/>
        </p:nvSpPr>
        <p:spPr>
          <a:xfrm>
            <a:off x="4253781" y="1321407"/>
            <a:ext cx="4246994" cy="692497"/>
          </a:xfrm>
          <a:prstGeom prst="rect">
            <a:avLst/>
          </a:prstGeom>
          <a:noFill/>
        </p:spPr>
        <p:txBody>
          <a:bodyPr wrap="square" rtlCol="0">
            <a:spAutoFit/>
          </a:bodyPr>
          <a:lstStyle/>
          <a:p>
            <a:pPr marL="742950" lvl="1" indent="-285750">
              <a:buFont typeface="Arial" panose="020B0604020202020204" pitchFamily="34" charset="0"/>
              <a:buChar char="•"/>
            </a:pPr>
            <a:r>
              <a:rPr lang="en-GB" sz="1300" b="1">
                <a:latin typeface="Aptos" panose="020B0004020202020204" pitchFamily="34" charset="0"/>
              </a:rPr>
              <a:t>Detection Gap:</a:t>
            </a:r>
            <a:r>
              <a:rPr lang="en-GB" sz="1300">
                <a:latin typeface="Aptos" panose="020B0004020202020204" pitchFamily="34" charset="0"/>
              </a:rPr>
              <a:t> Satellites like NASA FIRMS see heat but not context — they can't identify what's actually burning.</a:t>
            </a:r>
            <a:endParaRPr lang="en-IN" sz="1300">
              <a:latin typeface="Aptos" panose="020B0004020202020204" pitchFamily="34" charset="0"/>
            </a:endParaRPr>
          </a:p>
        </p:txBody>
      </p:sp>
      <p:sp>
        <p:nvSpPr>
          <p:cNvPr id="30" name="TextBox 29">
            <a:extLst>
              <a:ext uri="{FF2B5EF4-FFF2-40B4-BE49-F238E27FC236}">
                <a16:creationId xmlns:a16="http://schemas.microsoft.com/office/drawing/2014/main" id="{997D876C-03D7-EAB2-D3C0-0D870037C96E}"/>
              </a:ext>
            </a:extLst>
          </p:cNvPr>
          <p:cNvSpPr txBox="1"/>
          <p:nvPr/>
        </p:nvSpPr>
        <p:spPr>
          <a:xfrm>
            <a:off x="8605491" y="1305188"/>
            <a:ext cx="3435613" cy="892552"/>
          </a:xfrm>
          <a:prstGeom prst="rect">
            <a:avLst/>
          </a:prstGeom>
          <a:noFill/>
        </p:spPr>
        <p:txBody>
          <a:bodyPr wrap="square" rtlCol="0">
            <a:spAutoFit/>
          </a:bodyPr>
          <a:lstStyle/>
          <a:p>
            <a:pPr marL="285750" indent="-285750">
              <a:buFont typeface="Arial" panose="020B0604020202020204" pitchFamily="34" charset="0"/>
              <a:buChar char="•"/>
            </a:pPr>
            <a:r>
              <a:rPr lang="en-GB" sz="1300" b="1">
                <a:latin typeface="Aptos" panose="020B0004020202020204" pitchFamily="34" charset="0"/>
              </a:rPr>
              <a:t>Fire Intensity in MW, Not Just Detection</a:t>
            </a:r>
            <a:r>
              <a:rPr lang="en-GB" sz="1300">
                <a:latin typeface="Aptos" panose="020B0004020202020204" pitchFamily="34" charset="0"/>
              </a:rPr>
              <a:t> – We estimate Fire Radiative Power directly from INSAT, so alerts say "128 MW, rising" instead of just "fire detected."</a:t>
            </a:r>
            <a:endParaRPr lang="en-IN" sz="1300">
              <a:latin typeface="Aptos" panose="020B0004020202020204" pitchFamily="34" charset="0"/>
            </a:endParaRPr>
          </a:p>
        </p:txBody>
      </p:sp>
      <p:sp>
        <p:nvSpPr>
          <p:cNvPr id="31" name="TextBox 30">
            <a:extLst>
              <a:ext uri="{FF2B5EF4-FFF2-40B4-BE49-F238E27FC236}">
                <a16:creationId xmlns:a16="http://schemas.microsoft.com/office/drawing/2014/main" id="{1F11567E-312C-DF33-07E7-5744583A7EFC}"/>
              </a:ext>
            </a:extLst>
          </p:cNvPr>
          <p:cNvSpPr txBox="1"/>
          <p:nvPr/>
        </p:nvSpPr>
        <p:spPr>
          <a:xfrm>
            <a:off x="8605491" y="2155310"/>
            <a:ext cx="3626911" cy="892552"/>
          </a:xfrm>
          <a:prstGeom prst="rect">
            <a:avLst/>
          </a:prstGeom>
          <a:noFill/>
        </p:spPr>
        <p:txBody>
          <a:bodyPr wrap="square" rtlCol="0">
            <a:spAutoFit/>
          </a:bodyPr>
          <a:lstStyle/>
          <a:p>
            <a:pPr marL="285750" indent="-285750">
              <a:buFont typeface="Arial" panose="020B0604020202020204" pitchFamily="34" charset="0"/>
              <a:buChar char="•"/>
            </a:pPr>
            <a:r>
              <a:rPr lang="en-GB" sz="1300" b="1">
                <a:latin typeface="Aptos" panose="020B0004020202020204" pitchFamily="34" charset="0"/>
              </a:rPr>
              <a:t>Daytime Flare Detection</a:t>
            </a:r>
            <a:r>
              <a:rPr lang="en-GB" sz="1300">
                <a:latin typeface="Aptos" panose="020B0004020202020204" pitchFamily="34" charset="0"/>
              </a:rPr>
              <a:t> – Reuses existing Sentinel-2 SWIR data to catch gas flares during daylight, closing a gap most systems only solve at night.</a:t>
            </a:r>
            <a:endParaRPr lang="en-IN" sz="1300">
              <a:latin typeface="Aptos" panose="020B0004020202020204" pitchFamily="34" charset="0"/>
            </a:endParaRPr>
          </a:p>
        </p:txBody>
      </p:sp>
      <p:sp>
        <p:nvSpPr>
          <p:cNvPr id="32" name="TextBox 31">
            <a:extLst>
              <a:ext uri="{FF2B5EF4-FFF2-40B4-BE49-F238E27FC236}">
                <a16:creationId xmlns:a16="http://schemas.microsoft.com/office/drawing/2014/main" id="{454F0B30-6D46-C1B5-3E78-8970E06BF743}"/>
              </a:ext>
            </a:extLst>
          </p:cNvPr>
          <p:cNvSpPr txBox="1"/>
          <p:nvPr/>
        </p:nvSpPr>
        <p:spPr>
          <a:xfrm>
            <a:off x="8280185" y="3938120"/>
            <a:ext cx="3735357" cy="584775"/>
          </a:xfrm>
          <a:prstGeom prst="rect">
            <a:avLst/>
          </a:prstGeom>
          <a:noFill/>
        </p:spPr>
        <p:txBody>
          <a:bodyPr wrap="square" rtlCol="0">
            <a:spAutoFit/>
          </a:bodyPr>
          <a:lstStyle/>
          <a:p>
            <a:endParaRPr lang="en-IN" sz="1400" b="1">
              <a:latin typeface="Aptos" panose="020B0004020202020204" pitchFamily="34" charset="0"/>
            </a:endParaRPr>
          </a:p>
          <a:p>
            <a:endParaRPr lang="en-IN"/>
          </a:p>
        </p:txBody>
      </p:sp>
      <p:sp>
        <p:nvSpPr>
          <p:cNvPr id="33" name="TextBox 32">
            <a:extLst>
              <a:ext uri="{FF2B5EF4-FFF2-40B4-BE49-F238E27FC236}">
                <a16:creationId xmlns:a16="http://schemas.microsoft.com/office/drawing/2014/main" id="{7B466014-6218-FD6C-E5F7-9D8A364CA2E0}"/>
              </a:ext>
            </a:extLst>
          </p:cNvPr>
          <p:cNvSpPr txBox="1"/>
          <p:nvPr/>
        </p:nvSpPr>
        <p:spPr>
          <a:xfrm>
            <a:off x="8605491" y="4615062"/>
            <a:ext cx="3550377" cy="892552"/>
          </a:xfrm>
          <a:prstGeom prst="rect">
            <a:avLst/>
          </a:prstGeom>
          <a:noFill/>
        </p:spPr>
        <p:txBody>
          <a:bodyPr wrap="square" rtlCol="0">
            <a:spAutoFit/>
          </a:bodyPr>
          <a:lstStyle/>
          <a:p>
            <a:pPr marL="285750" indent="-285750">
              <a:buFont typeface="Arial" panose="020B0604020202020204" pitchFamily="34" charset="0"/>
              <a:buChar char="•"/>
            </a:pPr>
            <a:r>
              <a:rPr lang="en-GB" sz="1300" b="1">
                <a:latin typeface="Aptos" panose="020B0004020202020204" pitchFamily="34" charset="0"/>
              </a:rPr>
              <a:t>Mining as a Distinct Class</a:t>
            </a:r>
            <a:r>
              <a:rPr lang="en-GB" sz="1300">
                <a:latin typeface="Aptos" panose="020B0004020202020204" pitchFamily="34" charset="0"/>
              </a:rPr>
              <a:t> – Verified Bhuvan land-cover data separates active mining sites from generic wasteland, a gap most global land-cover sources miss.</a:t>
            </a:r>
            <a:endParaRPr lang="en-IN" sz="1300">
              <a:latin typeface="Aptos" panose="020B0004020202020204" pitchFamily="34" charset="0"/>
            </a:endParaRPr>
          </a:p>
        </p:txBody>
      </p:sp>
      <p:sp>
        <p:nvSpPr>
          <p:cNvPr id="34" name="TextBox 33">
            <a:extLst>
              <a:ext uri="{FF2B5EF4-FFF2-40B4-BE49-F238E27FC236}">
                <a16:creationId xmlns:a16="http://schemas.microsoft.com/office/drawing/2014/main" id="{001D7657-13D3-FE45-4CD0-BEC1C9A28FEA}"/>
              </a:ext>
            </a:extLst>
          </p:cNvPr>
          <p:cNvSpPr txBox="1"/>
          <p:nvPr/>
        </p:nvSpPr>
        <p:spPr>
          <a:xfrm>
            <a:off x="171212" y="1153062"/>
            <a:ext cx="3969004" cy="300082"/>
          </a:xfrm>
          <a:prstGeom prst="rect">
            <a:avLst/>
          </a:prstGeom>
          <a:solidFill>
            <a:schemeClr val="bg1"/>
          </a:solidFill>
        </p:spPr>
        <p:txBody>
          <a:bodyPr wrap="square" rtlCol="0">
            <a:spAutoFit/>
          </a:bodyPr>
          <a:lstStyle/>
          <a:p>
            <a:endParaRPr lang="en-IN" sz="1350">
              <a:latin typeface="Aptos" panose="020B0004020202020204" pitchFamily="34" charset="0"/>
            </a:endParaRPr>
          </a:p>
        </p:txBody>
      </p:sp>
      <p:sp>
        <p:nvSpPr>
          <p:cNvPr id="39" name="TextBox 38">
            <a:extLst>
              <a:ext uri="{FF2B5EF4-FFF2-40B4-BE49-F238E27FC236}">
                <a16:creationId xmlns:a16="http://schemas.microsoft.com/office/drawing/2014/main" id="{56019CF2-C0C2-37AA-E789-36E5638E7E0C}"/>
              </a:ext>
            </a:extLst>
          </p:cNvPr>
          <p:cNvSpPr txBox="1"/>
          <p:nvPr/>
        </p:nvSpPr>
        <p:spPr>
          <a:xfrm>
            <a:off x="62542" y="3839876"/>
            <a:ext cx="4443113" cy="646331"/>
          </a:xfrm>
          <a:prstGeom prst="rect">
            <a:avLst/>
          </a:prstGeom>
          <a:noFill/>
        </p:spPr>
        <p:txBody>
          <a:bodyPr wrap="square" rtlCol="0">
            <a:spAutoFit/>
          </a:bodyPr>
          <a:lstStyle/>
          <a:p>
            <a:pPr marL="285750" indent="-285750">
              <a:buFont typeface="Arial" panose="020B0604020202020204" pitchFamily="34" charset="0"/>
              <a:buChar char="•"/>
            </a:pPr>
            <a:r>
              <a:rPr lang="en-GB" sz="1200" b="1">
                <a:latin typeface="Aptos" panose="020B0004020202020204" pitchFamily="34" charset="0"/>
              </a:rPr>
              <a:t>Validate &amp; Flag</a:t>
            </a:r>
            <a:r>
              <a:rPr lang="en-GB" sz="1200">
                <a:latin typeface="Aptos" panose="020B0004020202020204" pitchFamily="34" charset="0"/>
              </a:rPr>
              <a:t> – Checks the reading against that facility's own history across two satellite passes; anything unusually hot or unconfirmed gets flagged for review.</a:t>
            </a:r>
            <a:endParaRPr lang="en-IN" sz="1200">
              <a:latin typeface="Aptos" panose="020B0004020202020204" pitchFamily="34" charset="0"/>
            </a:endParaRPr>
          </a:p>
        </p:txBody>
      </p:sp>
      <p:sp>
        <p:nvSpPr>
          <p:cNvPr id="5" name="TextBox 4">
            <a:extLst>
              <a:ext uri="{FF2B5EF4-FFF2-40B4-BE49-F238E27FC236}">
                <a16:creationId xmlns:a16="http://schemas.microsoft.com/office/drawing/2014/main" id="{AABFE6DF-406B-7FD6-59B9-66C1864B606E}"/>
              </a:ext>
            </a:extLst>
          </p:cNvPr>
          <p:cNvSpPr txBox="1"/>
          <p:nvPr/>
        </p:nvSpPr>
        <p:spPr>
          <a:xfrm>
            <a:off x="8605491" y="2957169"/>
            <a:ext cx="3550377" cy="892552"/>
          </a:xfrm>
          <a:prstGeom prst="rect">
            <a:avLst/>
          </a:prstGeom>
          <a:noFill/>
        </p:spPr>
        <p:txBody>
          <a:bodyPr wrap="square" rtlCol="0">
            <a:spAutoFit/>
          </a:bodyPr>
          <a:lstStyle/>
          <a:p>
            <a:pPr marL="285750" indent="-285750">
              <a:buFont typeface="Arial" panose="020B0604020202020204" pitchFamily="34" charset="0"/>
              <a:buChar char="•"/>
            </a:pPr>
            <a:r>
              <a:rPr lang="en-GB" sz="1300" b="1">
                <a:latin typeface="Aptos" panose="020B0004020202020204" pitchFamily="34" charset="0"/>
              </a:rPr>
              <a:t>India-Sourced Optical Proof</a:t>
            </a:r>
            <a:r>
              <a:rPr lang="en-GB" sz="1300">
                <a:latin typeface="Aptos" panose="020B0004020202020204" pitchFamily="34" charset="0"/>
              </a:rPr>
              <a:t> – Uses Resourcesat/Bhoonidhi alongside Sentinel-2, so visual confirmation doesn't depend solely on a foreign satellite.</a:t>
            </a:r>
            <a:endParaRPr lang="en-GB" sz="1300">
              <a:effectLst/>
              <a:latin typeface="Aptos" panose="020B0004020202020204" pitchFamily="34" charset="0"/>
              <a:cs typeface="Aparajita" panose="02020603050405020304" pitchFamily="18" charset="0"/>
            </a:endParaRPr>
          </a:p>
        </p:txBody>
      </p:sp>
      <p:sp>
        <p:nvSpPr>
          <p:cNvPr id="11" name="TextBox 10">
            <a:extLst>
              <a:ext uri="{FF2B5EF4-FFF2-40B4-BE49-F238E27FC236}">
                <a16:creationId xmlns:a16="http://schemas.microsoft.com/office/drawing/2014/main" id="{B4FEC0AD-C2E5-7F14-3692-7DB7EFEE97A8}"/>
              </a:ext>
            </a:extLst>
          </p:cNvPr>
          <p:cNvSpPr txBox="1"/>
          <p:nvPr/>
        </p:nvSpPr>
        <p:spPr>
          <a:xfrm>
            <a:off x="72989" y="1164638"/>
            <a:ext cx="4704944" cy="1200329"/>
          </a:xfrm>
          <a:prstGeom prst="rect">
            <a:avLst/>
          </a:prstGeom>
          <a:noFill/>
        </p:spPr>
        <p:txBody>
          <a:bodyPr wrap="square" rtlCol="0">
            <a:spAutoFit/>
          </a:bodyPr>
          <a:lstStyle/>
          <a:p>
            <a:r>
              <a:rPr lang="en-GB" sz="1200" b="1" u="sng">
                <a:latin typeface="Aptos" panose="020B0004020202020204" pitchFamily="34" charset="0"/>
              </a:rPr>
              <a:t>The Problem</a:t>
            </a:r>
            <a:r>
              <a:rPr lang="en-GB" sz="1200" b="1">
                <a:latin typeface="Aptos" panose="020B0004020202020204" pitchFamily="34" charset="0"/>
              </a:rPr>
              <a:t> </a:t>
            </a:r>
            <a:r>
              <a:rPr lang="en-GB" sz="1200">
                <a:latin typeface="Aptos" panose="020B0004020202020204" pitchFamily="34" charset="0"/>
              </a:rPr>
              <a:t>- Every day, satellites detect thousands of heat signatures near industrial facilities, but systems like NASA FIRMS cannot distinguish industrial fires from wildfires or agricultural burning. In April 2026, a thermal power-plant</a:t>
            </a:r>
            <a:r>
              <a:rPr lang="en-GB" sz="1200">
                <a:latin typeface="Aptos" panose="020B0004020202020204" pitchFamily="34" charset="0"/>
                <a:hlinkClick r:id="rId3"/>
              </a:rPr>
              <a:t> boiler explosion </a:t>
            </a:r>
            <a:r>
              <a:rPr lang="en-GB" sz="1200">
                <a:latin typeface="Aptos" panose="020B0004020202020204" pitchFamily="34" charset="0"/>
              </a:rPr>
              <a:t>in Chhattisgarh killed 13 workers and injured 20, highlighting the need for faster detection of abnormal industrial thermal events.</a:t>
            </a:r>
            <a:endParaRPr lang="en-IN" sz="1200">
              <a:latin typeface="Aptos" panose="020B0004020202020204" pitchFamily="34" charset="0"/>
            </a:endParaRPr>
          </a:p>
        </p:txBody>
      </p:sp>
      <p:sp>
        <p:nvSpPr>
          <p:cNvPr id="18" name="TextBox 17">
            <a:extLst>
              <a:ext uri="{FF2B5EF4-FFF2-40B4-BE49-F238E27FC236}">
                <a16:creationId xmlns:a16="http://schemas.microsoft.com/office/drawing/2014/main" id="{02AAB029-B351-B5EE-36D7-32E0C7E30BF0}"/>
              </a:ext>
            </a:extLst>
          </p:cNvPr>
          <p:cNvSpPr txBox="1"/>
          <p:nvPr/>
        </p:nvSpPr>
        <p:spPr>
          <a:xfrm>
            <a:off x="8605491" y="3769416"/>
            <a:ext cx="3448265" cy="892552"/>
          </a:xfrm>
          <a:prstGeom prst="rect">
            <a:avLst/>
          </a:prstGeom>
          <a:noFill/>
        </p:spPr>
        <p:txBody>
          <a:bodyPr wrap="square" rtlCol="0">
            <a:spAutoFit/>
          </a:bodyPr>
          <a:lstStyle/>
          <a:p>
            <a:pPr marL="285750" indent="-285750">
              <a:buFont typeface="Arial" panose="020B0604020202020204" pitchFamily="34" charset="0"/>
              <a:buChar char="•"/>
            </a:pPr>
            <a:r>
              <a:rPr lang="en-GB" sz="1300" b="1">
                <a:latin typeface="Aptos" panose="020B0004020202020204" pitchFamily="34" charset="0"/>
              </a:rPr>
              <a:t>Never-Blocking Evidence Layer</a:t>
            </a:r>
            <a:r>
              <a:rPr lang="en-GB" sz="1300">
                <a:latin typeface="Aptos" panose="020B0004020202020204" pitchFamily="34" charset="0"/>
              </a:rPr>
              <a:t> – Optical images and FRP calculations run fully async after the alert, so slow or failed fetches never delay a real warning.</a:t>
            </a:r>
            <a:endParaRPr lang="en-IN" sz="1300">
              <a:latin typeface="Aptos" panose="020B0004020202020204" pitchFamily="34" charset="0"/>
            </a:endParaRPr>
          </a:p>
        </p:txBody>
      </p:sp>
      <p:sp>
        <p:nvSpPr>
          <p:cNvPr id="24" name="TextBox 23">
            <a:extLst>
              <a:ext uri="{FF2B5EF4-FFF2-40B4-BE49-F238E27FC236}">
                <a16:creationId xmlns:a16="http://schemas.microsoft.com/office/drawing/2014/main" id="{D56D7448-FFE8-C802-890E-A631D9AB25BF}"/>
              </a:ext>
            </a:extLst>
          </p:cNvPr>
          <p:cNvSpPr txBox="1"/>
          <p:nvPr/>
        </p:nvSpPr>
        <p:spPr>
          <a:xfrm>
            <a:off x="4718447" y="2699277"/>
            <a:ext cx="3849942" cy="692497"/>
          </a:xfrm>
          <a:prstGeom prst="rect">
            <a:avLst/>
          </a:prstGeom>
          <a:noFill/>
        </p:spPr>
        <p:txBody>
          <a:bodyPr wrap="square" rtlCol="0">
            <a:spAutoFit/>
          </a:bodyPr>
          <a:lstStyle/>
          <a:p>
            <a:pPr marL="285750" indent="-285750">
              <a:buFont typeface="Arial" panose="020B0604020202020204" pitchFamily="34" charset="0"/>
              <a:buChar char="•"/>
            </a:pPr>
            <a:r>
              <a:rPr lang="en-GB" sz="1300" b="1">
                <a:latin typeface="Aptos" panose="020B0004020202020204" pitchFamily="34" charset="0"/>
              </a:rPr>
              <a:t>Response Gap:</a:t>
            </a:r>
            <a:r>
              <a:rPr lang="en-GB" sz="1300">
                <a:latin typeface="Aptos" panose="020B0004020202020204" pitchFamily="34" charset="0"/>
              </a:rPr>
              <a:t> Every heat signal looks equally urgent, burying real emergencies under wildfire and farm-burning noise.</a:t>
            </a:r>
          </a:p>
        </p:txBody>
      </p:sp>
      <p:sp>
        <p:nvSpPr>
          <p:cNvPr id="25" name="TextBox 24">
            <a:extLst>
              <a:ext uri="{FF2B5EF4-FFF2-40B4-BE49-F238E27FC236}">
                <a16:creationId xmlns:a16="http://schemas.microsoft.com/office/drawing/2014/main" id="{AD163D80-E798-C8DA-B771-7D475AEDA2F2}"/>
              </a:ext>
            </a:extLst>
          </p:cNvPr>
          <p:cNvSpPr txBox="1"/>
          <p:nvPr/>
        </p:nvSpPr>
        <p:spPr>
          <a:xfrm>
            <a:off x="4717181" y="2004813"/>
            <a:ext cx="3918991" cy="692497"/>
          </a:xfrm>
          <a:prstGeom prst="rect">
            <a:avLst/>
          </a:prstGeom>
          <a:noFill/>
        </p:spPr>
        <p:txBody>
          <a:bodyPr wrap="square" rtlCol="0">
            <a:spAutoFit/>
          </a:bodyPr>
          <a:lstStyle/>
          <a:p>
            <a:pPr marL="285750" indent="-285750">
              <a:buFont typeface="Arial" panose="020B0604020202020204" pitchFamily="34" charset="0"/>
              <a:buChar char="•"/>
            </a:pPr>
            <a:r>
              <a:rPr lang="en-GB" sz="1300" b="1">
                <a:latin typeface="Aptos" panose="020B0004020202020204" pitchFamily="34" charset="0"/>
              </a:rPr>
              <a:t>Data Gap:</a:t>
            </a:r>
            <a:r>
              <a:rPr lang="en-GB" sz="1300">
                <a:latin typeface="Aptos" panose="020B0004020202020204" pitchFamily="34" charset="0"/>
              </a:rPr>
              <a:t> No unified map links India's refineries, plants, and mines to satellite coordinates for context.</a:t>
            </a:r>
            <a:endParaRPr lang="en-IN" sz="1300">
              <a:latin typeface="Aptos" panose="020B0004020202020204" pitchFamily="34" charset="0"/>
            </a:endParaRPr>
          </a:p>
        </p:txBody>
      </p:sp>
      <p:sp>
        <p:nvSpPr>
          <p:cNvPr id="28" name="Rectangle 4">
            <a:extLst>
              <a:ext uri="{FF2B5EF4-FFF2-40B4-BE49-F238E27FC236}">
                <a16:creationId xmlns:a16="http://schemas.microsoft.com/office/drawing/2014/main" id="{506E3C31-A616-551B-0113-5D797D2E2968}"/>
              </a:ext>
            </a:extLst>
          </p:cNvPr>
          <p:cNvSpPr>
            <a:spLocks noGrp="1" noChangeArrowheads="1"/>
          </p:cNvSpPr>
          <p:nvPr>
            <p:ph type="title"/>
          </p:nvPr>
        </p:nvSpPr>
        <p:spPr bwMode="auto">
          <a:xfrm>
            <a:off x="1387654" y="273684"/>
            <a:ext cx="892922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a:ln>
                  <a:noFill/>
                </a:ln>
                <a:solidFill>
                  <a:schemeClr val="tx1"/>
                </a:solidFill>
                <a:effectLst/>
                <a:latin typeface="Aptos" panose="020B0004020202020204" pitchFamily="34" charset="0"/>
              </a:rPr>
              <a:t>IFDCS</a:t>
            </a:r>
            <a:r>
              <a:rPr kumimoji="0" lang="en-US" altLang="en-US" sz="2400" b="0" i="0" u="none" strike="noStrike" cap="none" normalizeH="0" baseline="0">
                <a:ln>
                  <a:noFill/>
                </a:ln>
                <a:solidFill>
                  <a:schemeClr val="tx1"/>
                </a:solidFill>
                <a:effectLst/>
                <a:latin typeface="Aptos" panose="020B0004020202020204" pitchFamily="34" charset="0"/>
              </a:rPr>
              <a:t> – Industrial Fire Detection &amp; Classification System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 name="Rectangle 5">
            <a:extLst>
              <a:ext uri="{FF2B5EF4-FFF2-40B4-BE49-F238E27FC236}">
                <a16:creationId xmlns:a16="http://schemas.microsoft.com/office/drawing/2014/main" id="{3033B5D2-4F50-BD2A-75FB-0A611527DAC0}"/>
              </a:ext>
            </a:extLst>
          </p:cNvPr>
          <p:cNvSpPr>
            <a:spLocks noChangeArrowheads="1"/>
          </p:cNvSpPr>
          <p:nvPr/>
        </p:nvSpPr>
        <p:spPr bwMode="auto">
          <a:xfrm>
            <a:off x="56152" y="4438510"/>
            <a:ext cx="440360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defTabSz="914400" eaLnBrk="0" hangingPunct="0">
              <a:buFont typeface="Arial" panose="020B0604020202020204" pitchFamily="34" charset="0"/>
              <a:buChar char="•"/>
            </a:pPr>
            <a:r>
              <a:rPr lang="en-GB" sz="1200" b="1">
                <a:latin typeface="Aptos" panose="020B0004020202020204" pitchFamily="34" charset="0"/>
              </a:rPr>
              <a:t>Explainable AI</a:t>
            </a:r>
            <a:r>
              <a:rPr lang="en-GB" sz="1200">
                <a:latin typeface="Aptos" panose="020B0004020202020204" pitchFamily="34" charset="0"/>
              </a:rPr>
              <a:t> – SHAP values turn the score into a plain-English reason, like "flagged HIGH — 4x above normal, matches known facility."</a:t>
            </a:r>
            <a:endParaRPr kumimoji="0" lang="en-US" altLang="en-US" sz="1200" b="0" i="0" u="none" strike="noStrike" cap="none" normalizeH="0" baseline="0">
              <a:ln>
                <a:noFill/>
              </a:ln>
              <a:solidFill>
                <a:schemeClr val="tx1"/>
              </a:solidFill>
              <a:effectLst/>
              <a:latin typeface="Aptos" panose="020B0004020202020204" pitchFamily="34" charset="0"/>
            </a:endParaRPr>
          </a:p>
        </p:txBody>
      </p:sp>
      <p:sp>
        <p:nvSpPr>
          <p:cNvPr id="36" name="AutoShape 7" descr="Generated image: Global Hotspot Heatmap Dashboard">
            <a:extLst>
              <a:ext uri="{FF2B5EF4-FFF2-40B4-BE49-F238E27FC236}">
                <a16:creationId xmlns:a16="http://schemas.microsoft.com/office/drawing/2014/main" id="{FB2D9511-1A14-D048-9A51-22D4D97C631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5EDB777B-643F-C5BC-EDFC-803A8F49C7A4}"/>
              </a:ext>
            </a:extLst>
          </p:cNvPr>
          <p:cNvSpPr txBox="1"/>
          <p:nvPr/>
        </p:nvSpPr>
        <p:spPr>
          <a:xfrm>
            <a:off x="47168" y="5696624"/>
            <a:ext cx="4657949" cy="923330"/>
          </a:xfrm>
          <a:prstGeom prst="rect">
            <a:avLst/>
          </a:prstGeom>
          <a:noFill/>
        </p:spPr>
        <p:txBody>
          <a:bodyPr wrap="square" rtlCol="0">
            <a:spAutoFit/>
          </a:bodyPr>
          <a:lstStyle/>
          <a:p>
            <a:pPr marL="285750" indent="-285750">
              <a:buFont typeface="Arial" panose="020B0604020202020204" pitchFamily="34" charset="0"/>
              <a:buChar char="•"/>
            </a:pPr>
            <a:r>
              <a:rPr lang="en-GB" sz="1200" b="1">
                <a:latin typeface="Aptos" panose="020B0004020202020204" pitchFamily="34" charset="0"/>
              </a:rPr>
              <a:t>Report &amp; Monitor</a:t>
            </a:r>
            <a:r>
              <a:rPr lang="en-GB" sz="1200">
                <a:latin typeface="Aptos" panose="020B0004020202020204" pitchFamily="34" charset="0"/>
              </a:rPr>
              <a:t> – Live GIS dashboard shows every event, colour-coded by risk, while the system tracks each site's heat over weeks and flags the ones that just won't cool down.</a:t>
            </a:r>
          </a:p>
          <a:p>
            <a:endParaRPr lang="en-IN"/>
          </a:p>
        </p:txBody>
      </p:sp>
      <p:sp>
        <p:nvSpPr>
          <p:cNvPr id="27" name="TextBox 26">
            <a:extLst>
              <a:ext uri="{FF2B5EF4-FFF2-40B4-BE49-F238E27FC236}">
                <a16:creationId xmlns:a16="http://schemas.microsoft.com/office/drawing/2014/main" id="{830CA30B-5F4F-395E-D813-56453CF6BC6E}"/>
              </a:ext>
            </a:extLst>
          </p:cNvPr>
          <p:cNvSpPr txBox="1"/>
          <p:nvPr/>
        </p:nvSpPr>
        <p:spPr>
          <a:xfrm>
            <a:off x="8616271" y="5450403"/>
            <a:ext cx="3529751" cy="1169551"/>
          </a:xfrm>
          <a:prstGeom prst="rect">
            <a:avLst/>
          </a:prstGeom>
          <a:noFill/>
        </p:spPr>
        <p:txBody>
          <a:bodyPr wrap="square" rtlCol="0">
            <a:spAutoFit/>
          </a:bodyPr>
          <a:lstStyle/>
          <a:p>
            <a:pPr marL="285750" indent="-285750">
              <a:buFont typeface="Arial" panose="020B0604020202020204" pitchFamily="34" charset="0"/>
              <a:buChar char="•"/>
            </a:pPr>
            <a:r>
              <a:rPr lang="en-GB" sz="1300" b="1">
                <a:latin typeface="Aptos" panose="020B0004020202020204" pitchFamily="34" charset="0"/>
              </a:rPr>
              <a:t>New-Facility Safety Net</a:t>
            </a:r>
            <a:r>
              <a:rPr lang="en-GB" sz="1300">
                <a:latin typeface="Aptos" panose="020B0004020202020204" pitchFamily="34" charset="0"/>
              </a:rPr>
              <a:t> – Newly registered sites aren't left unmonitored; they get an industry-average baseline with visibly lower confidence instead of silence.</a:t>
            </a:r>
          </a:p>
          <a:p>
            <a:endParaRPr lang="en-IN"/>
          </a:p>
        </p:txBody>
      </p:sp>
      <p:pic>
        <p:nvPicPr>
          <p:cNvPr id="44" name="Picture 43">
            <a:extLst>
              <a:ext uri="{FF2B5EF4-FFF2-40B4-BE49-F238E27FC236}">
                <a16:creationId xmlns:a16="http://schemas.microsoft.com/office/drawing/2014/main" id="{A31099E0-C478-6113-1D0C-D60732132C80}"/>
              </a:ext>
            </a:extLst>
          </p:cNvPr>
          <p:cNvPicPr>
            <a:picLocks noChangeAspect="1"/>
          </p:cNvPicPr>
          <p:nvPr/>
        </p:nvPicPr>
        <p:blipFill>
          <a:blip r:embed="rId4"/>
          <a:stretch>
            <a:fillRect/>
          </a:stretch>
        </p:blipFill>
        <p:spPr>
          <a:xfrm>
            <a:off x="4698621" y="3532651"/>
            <a:ext cx="3855864" cy="2832185"/>
          </a:xfrm>
          <a:prstGeom prst="rect">
            <a:avLst/>
          </a:prstGeom>
          <a:effectLst>
            <a:softEdge rad="63500"/>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000" dirty="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a:t>
            </a:r>
            <a:endParaRPr lang="en-US" dirty="0">
              <a:solidFill>
                <a:schemeClr val="bg1"/>
              </a:solidFill>
            </a:endParaRPr>
          </a:p>
        </p:txBody>
      </p:sp>
      <p:sp>
        <p:nvSpPr>
          <p:cNvPr id="4" name="AutoShape 2" descr="Generated image: Fundus Image Analysis Pipeline">
            <a:extLst>
              <a:ext uri="{FF2B5EF4-FFF2-40B4-BE49-F238E27FC236}">
                <a16:creationId xmlns:a16="http://schemas.microsoft.com/office/drawing/2014/main" id="{4AFB22B6-4550-2233-38B1-4A2B650D96D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4" descr="Generated image: Fundus Image Analysis Pipeline">
            <a:extLst>
              <a:ext uri="{FF2B5EF4-FFF2-40B4-BE49-F238E27FC236}">
                <a16:creationId xmlns:a16="http://schemas.microsoft.com/office/drawing/2014/main" id="{EB9E1342-5FEA-9471-F06E-3C46693D7A1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Rectangle: Rounded Corners 1">
            <a:extLst>
              <a:ext uri="{FF2B5EF4-FFF2-40B4-BE49-F238E27FC236}">
                <a16:creationId xmlns:a16="http://schemas.microsoft.com/office/drawing/2014/main" id="{5EB19FA6-0F77-6957-A9FA-62BAD3F24D62}"/>
              </a:ext>
            </a:extLst>
          </p:cNvPr>
          <p:cNvSpPr/>
          <p:nvPr/>
        </p:nvSpPr>
        <p:spPr>
          <a:xfrm>
            <a:off x="97283" y="1211179"/>
            <a:ext cx="1147010" cy="914400"/>
          </a:xfrm>
          <a:prstGeom prst="roundRect">
            <a:avLst/>
          </a:prstGeom>
          <a:solidFill>
            <a:srgbClr val="0B1E3F"/>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421F3BD7-A27C-A4A7-9266-05A296E0683F}"/>
              </a:ext>
            </a:extLst>
          </p:cNvPr>
          <p:cNvSpPr/>
          <p:nvPr/>
        </p:nvSpPr>
        <p:spPr>
          <a:xfrm>
            <a:off x="5449826" y="1203809"/>
            <a:ext cx="1147010" cy="914400"/>
          </a:xfrm>
          <a:prstGeom prst="roundRect">
            <a:avLst/>
          </a:prstGeom>
          <a:solidFill>
            <a:srgbClr val="10B981"/>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BDF85E2F-A21B-1820-CEC9-E8D259A4CB10}"/>
              </a:ext>
            </a:extLst>
          </p:cNvPr>
          <p:cNvSpPr/>
          <p:nvPr/>
        </p:nvSpPr>
        <p:spPr>
          <a:xfrm>
            <a:off x="1363580" y="1211179"/>
            <a:ext cx="1147010" cy="914400"/>
          </a:xfrm>
          <a:prstGeom prst="roundRect">
            <a:avLst/>
          </a:prstGeom>
          <a:solidFill>
            <a:srgbClr val="0B1E3F"/>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E884049B-FD81-CAAC-85CA-AF0747544D98}"/>
              </a:ext>
            </a:extLst>
          </p:cNvPr>
          <p:cNvSpPr/>
          <p:nvPr/>
        </p:nvSpPr>
        <p:spPr>
          <a:xfrm>
            <a:off x="3985841" y="1204305"/>
            <a:ext cx="1147010" cy="914400"/>
          </a:xfrm>
          <a:prstGeom prst="roundRect">
            <a:avLst/>
          </a:prstGeom>
          <a:solidFill>
            <a:srgbClr val="10B981"/>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5AB606CD-82A8-F730-9FE5-BC600D0BF217}"/>
              </a:ext>
            </a:extLst>
          </p:cNvPr>
          <p:cNvSpPr/>
          <p:nvPr/>
        </p:nvSpPr>
        <p:spPr>
          <a:xfrm>
            <a:off x="2603235" y="1211179"/>
            <a:ext cx="1147010" cy="914400"/>
          </a:xfrm>
          <a:prstGeom prst="roundRect">
            <a:avLst/>
          </a:prstGeom>
          <a:solidFill>
            <a:srgbClr val="FF6B00"/>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cxnSp>
        <p:nvCxnSpPr>
          <p:cNvPr id="13" name="Straight Arrow Connector 12">
            <a:extLst>
              <a:ext uri="{FF2B5EF4-FFF2-40B4-BE49-F238E27FC236}">
                <a16:creationId xmlns:a16="http://schemas.microsoft.com/office/drawing/2014/main" id="{2A6CA011-9049-E195-5BFE-944AA4ECDB13}"/>
              </a:ext>
            </a:extLst>
          </p:cNvPr>
          <p:cNvCxnSpPr>
            <a:stCxn id="2" idx="3"/>
            <a:endCxn id="5" idx="1"/>
          </p:cNvCxnSpPr>
          <p:nvPr/>
        </p:nvCxnSpPr>
        <p:spPr>
          <a:xfrm>
            <a:off x="1244293" y="1668379"/>
            <a:ext cx="119287" cy="0"/>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61F9A43F-5051-EB55-E772-264B0D2FB084}"/>
              </a:ext>
            </a:extLst>
          </p:cNvPr>
          <p:cNvSpPr/>
          <p:nvPr/>
        </p:nvSpPr>
        <p:spPr>
          <a:xfrm>
            <a:off x="10704087" y="1211179"/>
            <a:ext cx="1147010" cy="914400"/>
          </a:xfrm>
          <a:prstGeom prst="roundRect">
            <a:avLst/>
          </a:prstGeom>
          <a:solidFill>
            <a:srgbClr val="E2E8F0"/>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72C43E03-6C9E-2476-8F17-93BB7F773D52}"/>
              </a:ext>
            </a:extLst>
          </p:cNvPr>
          <p:cNvSpPr/>
          <p:nvPr/>
        </p:nvSpPr>
        <p:spPr>
          <a:xfrm>
            <a:off x="9392646" y="1211179"/>
            <a:ext cx="1147010" cy="914400"/>
          </a:xfrm>
          <a:prstGeom prst="roundRect">
            <a:avLst/>
          </a:prstGeom>
          <a:solidFill>
            <a:srgbClr val="E2E8F0"/>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593FEC64-C420-A6E7-4158-46A91DAF4188}"/>
              </a:ext>
            </a:extLst>
          </p:cNvPr>
          <p:cNvSpPr/>
          <p:nvPr/>
        </p:nvSpPr>
        <p:spPr>
          <a:xfrm>
            <a:off x="8081205" y="1211179"/>
            <a:ext cx="1147010" cy="914400"/>
          </a:xfrm>
          <a:prstGeom prst="roundRect">
            <a:avLst/>
          </a:prstGeom>
          <a:solidFill>
            <a:srgbClr val="FFC107"/>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02B715DE-1C63-5BD0-DAC5-A859F0434DEC}"/>
              </a:ext>
            </a:extLst>
          </p:cNvPr>
          <p:cNvSpPr/>
          <p:nvPr/>
        </p:nvSpPr>
        <p:spPr>
          <a:xfrm>
            <a:off x="6769764" y="1211179"/>
            <a:ext cx="1147010" cy="914400"/>
          </a:xfrm>
          <a:prstGeom prst="roundRect">
            <a:avLst/>
          </a:prstGeom>
          <a:solidFill>
            <a:srgbClr val="FFC107"/>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en-US" sz="1300" b="1">
              <a:solidFill>
                <a:schemeClr val="tx1"/>
              </a:solidFill>
              <a:latin typeface="Aptos" panose="020B0004020202020204" pitchFamily="34" charset="0"/>
            </a:endParaRPr>
          </a:p>
          <a:p>
            <a:pPr algn="ctr"/>
            <a:endParaRPr lang="en-IN"/>
          </a:p>
        </p:txBody>
      </p:sp>
      <p:sp>
        <p:nvSpPr>
          <p:cNvPr id="21" name="Rectangle: Rounded Corners 20">
            <a:extLst>
              <a:ext uri="{FF2B5EF4-FFF2-40B4-BE49-F238E27FC236}">
                <a16:creationId xmlns:a16="http://schemas.microsoft.com/office/drawing/2014/main" id="{95EFDF96-572E-37DE-6CD3-52A84809344A}"/>
              </a:ext>
            </a:extLst>
          </p:cNvPr>
          <p:cNvSpPr/>
          <p:nvPr/>
        </p:nvSpPr>
        <p:spPr>
          <a:xfrm>
            <a:off x="3985326" y="2336335"/>
            <a:ext cx="1147010" cy="914400"/>
          </a:xfrm>
          <a:prstGeom prst="roundRect">
            <a:avLst/>
          </a:prstGeom>
          <a:solidFill>
            <a:srgbClr val="FF6B00"/>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5779776C-33B4-A3CA-9E36-FE2CFBB69883}"/>
              </a:ext>
            </a:extLst>
          </p:cNvPr>
          <p:cNvSpPr/>
          <p:nvPr/>
        </p:nvSpPr>
        <p:spPr>
          <a:xfrm>
            <a:off x="10708098" y="2328252"/>
            <a:ext cx="1147010" cy="914400"/>
          </a:xfrm>
          <a:prstGeom prst="roundRect">
            <a:avLst/>
          </a:prstGeom>
          <a:solidFill>
            <a:srgbClr val="E2E8F0"/>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BDDA1646-9E85-F00B-5BF6-7F277BCE156D}"/>
              </a:ext>
            </a:extLst>
          </p:cNvPr>
          <p:cNvSpPr/>
          <p:nvPr/>
        </p:nvSpPr>
        <p:spPr>
          <a:xfrm>
            <a:off x="124326" y="3402886"/>
            <a:ext cx="11983452" cy="2857309"/>
          </a:xfrm>
          <a:prstGeom prst="roundRect">
            <a:avLst>
              <a:gd name="adj" fmla="val 4454"/>
            </a:avLst>
          </a:prstGeom>
          <a:solidFill>
            <a:srgbClr val="FFFFFF"/>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cxnSp>
        <p:nvCxnSpPr>
          <p:cNvPr id="24" name="Straight Arrow Connector 23">
            <a:extLst>
              <a:ext uri="{FF2B5EF4-FFF2-40B4-BE49-F238E27FC236}">
                <a16:creationId xmlns:a16="http://schemas.microsoft.com/office/drawing/2014/main" id="{055AAF3C-86B0-980B-412C-603EA35E8773}"/>
              </a:ext>
            </a:extLst>
          </p:cNvPr>
          <p:cNvCxnSpPr/>
          <p:nvPr/>
        </p:nvCxnSpPr>
        <p:spPr>
          <a:xfrm>
            <a:off x="2510590" y="1668379"/>
            <a:ext cx="164431" cy="0"/>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338249F6-9B6C-192A-6F10-802CF38641EB}"/>
              </a:ext>
            </a:extLst>
          </p:cNvPr>
          <p:cNvCxnSpPr>
            <a:cxnSpLocks/>
            <a:stCxn id="11" idx="3"/>
            <a:endCxn id="8" idx="1"/>
          </p:cNvCxnSpPr>
          <p:nvPr/>
        </p:nvCxnSpPr>
        <p:spPr>
          <a:xfrm flipV="1">
            <a:off x="3750245" y="1661505"/>
            <a:ext cx="235596" cy="6874"/>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1C714B43-90CD-4CD0-5A99-51B1E5071DBF}"/>
              </a:ext>
            </a:extLst>
          </p:cNvPr>
          <p:cNvCxnSpPr>
            <a:cxnSpLocks/>
            <a:stCxn id="8" idx="3"/>
            <a:endCxn id="3" idx="1"/>
          </p:cNvCxnSpPr>
          <p:nvPr/>
        </p:nvCxnSpPr>
        <p:spPr>
          <a:xfrm flipV="1">
            <a:off x="5132851" y="1661009"/>
            <a:ext cx="316975" cy="496"/>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A721FEEF-C443-3034-5FA4-A07F84491433}"/>
              </a:ext>
            </a:extLst>
          </p:cNvPr>
          <p:cNvCxnSpPr/>
          <p:nvPr/>
        </p:nvCxnSpPr>
        <p:spPr>
          <a:xfrm>
            <a:off x="6605333" y="1668379"/>
            <a:ext cx="164431" cy="0"/>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10A8B72B-D5AF-E9B0-3AED-4CB6A6E37068}"/>
              </a:ext>
            </a:extLst>
          </p:cNvPr>
          <p:cNvCxnSpPr/>
          <p:nvPr/>
        </p:nvCxnSpPr>
        <p:spPr>
          <a:xfrm>
            <a:off x="7916774" y="1668379"/>
            <a:ext cx="164431" cy="0"/>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13ADE1FA-D03E-B413-9A1A-246DE2FF2630}"/>
              </a:ext>
            </a:extLst>
          </p:cNvPr>
          <p:cNvCxnSpPr/>
          <p:nvPr/>
        </p:nvCxnSpPr>
        <p:spPr>
          <a:xfrm>
            <a:off x="9228215" y="1668379"/>
            <a:ext cx="164431" cy="0"/>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BCD26182-71CD-EA36-8FE9-0C9B06CF7CB3}"/>
              </a:ext>
            </a:extLst>
          </p:cNvPr>
          <p:cNvCxnSpPr>
            <a:cxnSpLocks/>
          </p:cNvCxnSpPr>
          <p:nvPr/>
        </p:nvCxnSpPr>
        <p:spPr>
          <a:xfrm>
            <a:off x="10543667" y="1668379"/>
            <a:ext cx="164431" cy="0"/>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Elbow 37">
            <a:extLst>
              <a:ext uri="{FF2B5EF4-FFF2-40B4-BE49-F238E27FC236}">
                <a16:creationId xmlns:a16="http://schemas.microsoft.com/office/drawing/2014/main" id="{B6A78545-52A6-01C5-B97B-BA8F5B971D8D}"/>
              </a:ext>
            </a:extLst>
          </p:cNvPr>
          <p:cNvCxnSpPr>
            <a:stCxn id="21" idx="3"/>
            <a:endCxn id="17" idx="2"/>
          </p:cNvCxnSpPr>
          <p:nvPr/>
        </p:nvCxnSpPr>
        <p:spPr>
          <a:xfrm flipV="1">
            <a:off x="5132336" y="2125579"/>
            <a:ext cx="3522374" cy="667956"/>
          </a:xfrm>
          <a:prstGeom prst="bentConnector2">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51306120-DB2B-F860-588F-50DE6D47639E}"/>
              </a:ext>
            </a:extLst>
          </p:cNvPr>
          <p:cNvCxnSpPr>
            <a:stCxn id="14" idx="2"/>
            <a:endCxn id="22" idx="0"/>
          </p:cNvCxnSpPr>
          <p:nvPr/>
        </p:nvCxnSpPr>
        <p:spPr>
          <a:xfrm>
            <a:off x="11277592" y="2125579"/>
            <a:ext cx="4011" cy="202673"/>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06D1B822-9D8C-60CD-6A33-7601DCEB765E}"/>
              </a:ext>
            </a:extLst>
          </p:cNvPr>
          <p:cNvSpPr txBox="1"/>
          <p:nvPr/>
        </p:nvSpPr>
        <p:spPr>
          <a:xfrm>
            <a:off x="57750" y="1414742"/>
            <a:ext cx="1259305" cy="769441"/>
          </a:xfrm>
          <a:prstGeom prst="rect">
            <a:avLst/>
          </a:prstGeom>
          <a:noFill/>
        </p:spPr>
        <p:txBody>
          <a:bodyPr wrap="square" rtlCol="0">
            <a:spAutoFit/>
          </a:bodyPr>
          <a:lstStyle/>
          <a:p>
            <a:pPr algn="ctr"/>
            <a:r>
              <a:rPr lang="en-US" altLang="en-US" sz="1300" b="1">
                <a:solidFill>
                  <a:srgbClr val="F5F7FA"/>
                </a:solidFill>
                <a:latin typeface="Aptos" panose="020B0004020202020204" pitchFamily="34" charset="0"/>
              </a:rPr>
              <a:t>INSAT + FIRMS Ingest </a:t>
            </a:r>
          </a:p>
          <a:p>
            <a:endParaRPr lang="en-IN"/>
          </a:p>
        </p:txBody>
      </p:sp>
      <p:sp>
        <p:nvSpPr>
          <p:cNvPr id="46" name="TextBox 45">
            <a:extLst>
              <a:ext uri="{FF2B5EF4-FFF2-40B4-BE49-F238E27FC236}">
                <a16:creationId xmlns:a16="http://schemas.microsoft.com/office/drawing/2014/main" id="{8E960CF1-BBEB-1C4A-7CF9-3F044D0E3A23}"/>
              </a:ext>
            </a:extLst>
          </p:cNvPr>
          <p:cNvSpPr txBox="1"/>
          <p:nvPr/>
        </p:nvSpPr>
        <p:spPr>
          <a:xfrm>
            <a:off x="1338538" y="1387711"/>
            <a:ext cx="1151021" cy="492443"/>
          </a:xfrm>
          <a:prstGeom prst="rect">
            <a:avLst/>
          </a:prstGeom>
          <a:noFill/>
        </p:spPr>
        <p:txBody>
          <a:bodyPr wrap="square" rtlCol="0">
            <a:spAutoFit/>
          </a:bodyPr>
          <a:lstStyle/>
          <a:p>
            <a:pPr lvl="0" algn="ctr" defTabSz="914400" eaLnBrk="0" hangingPunct="0"/>
            <a:r>
              <a:rPr lang="en-US" altLang="en-US" sz="1300" b="1">
                <a:solidFill>
                  <a:srgbClr val="FFFFFF"/>
                </a:solidFill>
                <a:latin typeface="Aptos" panose="020B0004020202020204" pitchFamily="34" charset="0"/>
              </a:rPr>
              <a:t>Land-Cover (Bhuvan)</a:t>
            </a:r>
            <a:r>
              <a:rPr lang="en-US" altLang="en-US" sz="1300">
                <a:solidFill>
                  <a:srgbClr val="FFFFFF"/>
                </a:solidFill>
                <a:latin typeface="Aptos" panose="020B0004020202020204" pitchFamily="34" charset="0"/>
              </a:rPr>
              <a:t> </a:t>
            </a:r>
          </a:p>
        </p:txBody>
      </p:sp>
      <p:sp>
        <p:nvSpPr>
          <p:cNvPr id="50" name="TextBox 49">
            <a:extLst>
              <a:ext uri="{FF2B5EF4-FFF2-40B4-BE49-F238E27FC236}">
                <a16:creationId xmlns:a16="http://schemas.microsoft.com/office/drawing/2014/main" id="{49AA374F-B2B0-ADF1-3E64-0267AFFC8472}"/>
              </a:ext>
            </a:extLst>
          </p:cNvPr>
          <p:cNvSpPr txBox="1"/>
          <p:nvPr/>
        </p:nvSpPr>
        <p:spPr>
          <a:xfrm>
            <a:off x="2686125" y="1378401"/>
            <a:ext cx="1042737" cy="769441"/>
          </a:xfrm>
          <a:prstGeom prst="rect">
            <a:avLst/>
          </a:prstGeom>
          <a:noFill/>
        </p:spPr>
        <p:txBody>
          <a:bodyPr wrap="square" rtlCol="0">
            <a:spAutoFit/>
          </a:bodyPr>
          <a:lstStyle/>
          <a:p>
            <a:pPr algn="ctr"/>
            <a:r>
              <a:rPr lang="en-US" altLang="en-US" sz="1300" b="1">
                <a:solidFill>
                  <a:srgbClr val="FFFFFF"/>
                </a:solidFill>
                <a:latin typeface="Aptos" panose="020B0004020202020204" pitchFamily="34" charset="0"/>
              </a:rPr>
              <a:t>Flare Pre-Filter</a:t>
            </a:r>
            <a:r>
              <a:rPr lang="en-US" altLang="en-US" sz="1300">
                <a:solidFill>
                  <a:srgbClr val="FFFFFF"/>
                </a:solidFill>
                <a:latin typeface="Aptos" panose="020B0004020202020204" pitchFamily="34" charset="0"/>
              </a:rPr>
              <a:t> </a:t>
            </a:r>
          </a:p>
          <a:p>
            <a:endParaRPr lang="en-IN" b="1"/>
          </a:p>
        </p:txBody>
      </p:sp>
      <p:sp>
        <p:nvSpPr>
          <p:cNvPr id="51" name="TextBox 50">
            <a:extLst>
              <a:ext uri="{FF2B5EF4-FFF2-40B4-BE49-F238E27FC236}">
                <a16:creationId xmlns:a16="http://schemas.microsoft.com/office/drawing/2014/main" id="{992014E9-A97D-B15A-4B06-AFB67F88F3B0}"/>
              </a:ext>
            </a:extLst>
          </p:cNvPr>
          <p:cNvSpPr txBox="1"/>
          <p:nvPr/>
        </p:nvSpPr>
        <p:spPr>
          <a:xfrm>
            <a:off x="3985841" y="1363413"/>
            <a:ext cx="1147010" cy="492443"/>
          </a:xfrm>
          <a:prstGeom prst="rect">
            <a:avLst/>
          </a:prstGeom>
          <a:noFill/>
        </p:spPr>
        <p:txBody>
          <a:bodyPr wrap="square" rtlCol="0">
            <a:spAutoFit/>
          </a:bodyPr>
          <a:lstStyle/>
          <a:p>
            <a:pPr lvl="0" algn="ctr" defTabSz="914400" eaLnBrk="0" hangingPunct="0"/>
            <a:r>
              <a:rPr lang="en-US" altLang="en-US" sz="1300" b="1">
                <a:solidFill>
                  <a:srgbClr val="FFFFFF"/>
                </a:solidFill>
                <a:latin typeface="Aptos" panose="020B0004020202020204" pitchFamily="34" charset="0"/>
              </a:rPr>
              <a:t>Store &amp; Baseline</a:t>
            </a:r>
            <a:r>
              <a:rPr lang="en-US" altLang="en-US" sz="1300">
                <a:solidFill>
                  <a:srgbClr val="FFFFFF"/>
                </a:solidFill>
                <a:latin typeface="Aptos" panose="020B0004020202020204" pitchFamily="34" charset="0"/>
              </a:rPr>
              <a:t> </a:t>
            </a:r>
          </a:p>
        </p:txBody>
      </p:sp>
      <p:sp>
        <p:nvSpPr>
          <p:cNvPr id="55" name="TextBox 54">
            <a:extLst>
              <a:ext uri="{FF2B5EF4-FFF2-40B4-BE49-F238E27FC236}">
                <a16:creationId xmlns:a16="http://schemas.microsoft.com/office/drawing/2014/main" id="{17D2E7BD-EC38-5779-7A99-F23C3CEB6BDC}"/>
              </a:ext>
            </a:extLst>
          </p:cNvPr>
          <p:cNvSpPr txBox="1"/>
          <p:nvPr/>
        </p:nvSpPr>
        <p:spPr>
          <a:xfrm>
            <a:off x="5374710" y="1424866"/>
            <a:ext cx="1313306" cy="769441"/>
          </a:xfrm>
          <a:prstGeom prst="rect">
            <a:avLst/>
          </a:prstGeom>
          <a:noFill/>
        </p:spPr>
        <p:txBody>
          <a:bodyPr wrap="square" rtlCol="0">
            <a:spAutoFit/>
          </a:bodyPr>
          <a:lstStyle/>
          <a:p>
            <a:pPr algn="ctr"/>
            <a:r>
              <a:rPr lang="en-US" altLang="en-US" sz="1300" b="1">
                <a:solidFill>
                  <a:srgbClr val="FFFFFF"/>
                </a:solidFill>
                <a:latin typeface="Aptos" panose="020B0004020202020204" pitchFamily="34" charset="0"/>
              </a:rPr>
              <a:t>Cold-Start Gate</a:t>
            </a:r>
            <a:r>
              <a:rPr lang="en-US" altLang="en-US" sz="1300">
                <a:solidFill>
                  <a:srgbClr val="FFFFFF"/>
                </a:solidFill>
                <a:latin typeface="Aptos" panose="020B0004020202020204" pitchFamily="34" charset="0"/>
              </a:rPr>
              <a:t> </a:t>
            </a:r>
          </a:p>
          <a:p>
            <a:endParaRPr lang="en-IN"/>
          </a:p>
        </p:txBody>
      </p:sp>
      <p:sp>
        <p:nvSpPr>
          <p:cNvPr id="58" name="TextBox 57">
            <a:extLst>
              <a:ext uri="{FF2B5EF4-FFF2-40B4-BE49-F238E27FC236}">
                <a16:creationId xmlns:a16="http://schemas.microsoft.com/office/drawing/2014/main" id="{C8599F7E-CD0E-A081-BCEE-CEA8215E8753}"/>
              </a:ext>
            </a:extLst>
          </p:cNvPr>
          <p:cNvSpPr txBox="1"/>
          <p:nvPr/>
        </p:nvSpPr>
        <p:spPr>
          <a:xfrm>
            <a:off x="6703111" y="1368772"/>
            <a:ext cx="1275249" cy="769441"/>
          </a:xfrm>
          <a:prstGeom prst="rect">
            <a:avLst/>
          </a:prstGeom>
          <a:noFill/>
        </p:spPr>
        <p:txBody>
          <a:bodyPr wrap="square" rtlCol="0">
            <a:spAutoFit/>
          </a:bodyPr>
          <a:lstStyle/>
          <a:p>
            <a:pPr algn="ctr"/>
            <a:r>
              <a:rPr lang="en-US" altLang="en-US" sz="1300" b="1">
                <a:solidFill>
                  <a:srgbClr val="FFFFFF"/>
                </a:solidFill>
                <a:latin typeface="Aptos" panose="020B0004020202020204" pitchFamily="34" charset="0"/>
              </a:rPr>
              <a:t>XGBoost Classification</a:t>
            </a:r>
            <a:r>
              <a:rPr lang="en-US" altLang="en-US" sz="1300">
                <a:solidFill>
                  <a:srgbClr val="FFFFFF"/>
                </a:solidFill>
                <a:latin typeface="Aptos" panose="020B0004020202020204" pitchFamily="34" charset="0"/>
              </a:rPr>
              <a:t> </a:t>
            </a:r>
          </a:p>
          <a:p>
            <a:endParaRPr lang="en-IN"/>
          </a:p>
        </p:txBody>
      </p:sp>
      <p:sp>
        <p:nvSpPr>
          <p:cNvPr id="61" name="TextBox 60">
            <a:extLst>
              <a:ext uri="{FF2B5EF4-FFF2-40B4-BE49-F238E27FC236}">
                <a16:creationId xmlns:a16="http://schemas.microsoft.com/office/drawing/2014/main" id="{87176D01-29CA-443B-4149-3C0C648B76A1}"/>
              </a:ext>
            </a:extLst>
          </p:cNvPr>
          <p:cNvSpPr txBox="1"/>
          <p:nvPr/>
        </p:nvSpPr>
        <p:spPr>
          <a:xfrm>
            <a:off x="8141363" y="1379778"/>
            <a:ext cx="1026694" cy="769441"/>
          </a:xfrm>
          <a:prstGeom prst="rect">
            <a:avLst/>
          </a:prstGeom>
          <a:noFill/>
        </p:spPr>
        <p:txBody>
          <a:bodyPr wrap="square" rtlCol="0">
            <a:spAutoFit/>
          </a:bodyPr>
          <a:lstStyle/>
          <a:p>
            <a:pPr algn="ctr"/>
            <a:r>
              <a:rPr lang="en-US" altLang="en-US" sz="1300" b="1">
                <a:solidFill>
                  <a:srgbClr val="FFFFFF"/>
                </a:solidFill>
                <a:latin typeface="Aptos" panose="020B0004020202020204" pitchFamily="34" charset="0"/>
              </a:rPr>
              <a:t>Validate &amp; Flag</a:t>
            </a:r>
            <a:r>
              <a:rPr lang="en-US" altLang="en-US" sz="1300">
                <a:solidFill>
                  <a:srgbClr val="FFFFFF"/>
                </a:solidFill>
                <a:latin typeface="Aptos" panose="020B0004020202020204" pitchFamily="34" charset="0"/>
              </a:rPr>
              <a:t> </a:t>
            </a:r>
          </a:p>
          <a:p>
            <a:endParaRPr lang="en-IN"/>
          </a:p>
        </p:txBody>
      </p:sp>
      <p:sp>
        <p:nvSpPr>
          <p:cNvPr id="17408" name="TextBox 17407">
            <a:extLst>
              <a:ext uri="{FF2B5EF4-FFF2-40B4-BE49-F238E27FC236}">
                <a16:creationId xmlns:a16="http://schemas.microsoft.com/office/drawing/2014/main" id="{20FADB8A-6057-799A-B983-EACAFE3F4F07}"/>
              </a:ext>
            </a:extLst>
          </p:cNvPr>
          <p:cNvSpPr txBox="1"/>
          <p:nvPr/>
        </p:nvSpPr>
        <p:spPr>
          <a:xfrm>
            <a:off x="9409916" y="1379779"/>
            <a:ext cx="1147011" cy="769441"/>
          </a:xfrm>
          <a:prstGeom prst="rect">
            <a:avLst/>
          </a:prstGeom>
          <a:noFill/>
        </p:spPr>
        <p:txBody>
          <a:bodyPr wrap="square" rtlCol="0">
            <a:spAutoFit/>
          </a:bodyPr>
          <a:lstStyle/>
          <a:p>
            <a:pPr algn="ctr"/>
            <a:r>
              <a:rPr lang="en-US" altLang="en-US" sz="1300" b="1">
                <a:solidFill>
                  <a:schemeClr val="tx1">
                    <a:lumMod val="50000"/>
                    <a:lumOff val="50000"/>
                  </a:schemeClr>
                </a:solidFill>
                <a:latin typeface="Aptos" panose="020B0004020202020204" pitchFamily="34" charset="0"/>
              </a:rPr>
              <a:t>Explainable AI (SHAP)</a:t>
            </a:r>
            <a:r>
              <a:rPr lang="en-US" altLang="en-US" sz="1300">
                <a:solidFill>
                  <a:schemeClr val="tx1">
                    <a:lumMod val="50000"/>
                    <a:lumOff val="50000"/>
                  </a:schemeClr>
                </a:solidFill>
                <a:latin typeface="Aptos" panose="020B0004020202020204" pitchFamily="34" charset="0"/>
              </a:rPr>
              <a:t> </a:t>
            </a:r>
          </a:p>
          <a:p>
            <a:endParaRPr lang="en-IN"/>
          </a:p>
        </p:txBody>
      </p:sp>
      <p:sp>
        <p:nvSpPr>
          <p:cNvPr id="17410" name="TextBox 17409">
            <a:extLst>
              <a:ext uri="{FF2B5EF4-FFF2-40B4-BE49-F238E27FC236}">
                <a16:creationId xmlns:a16="http://schemas.microsoft.com/office/drawing/2014/main" id="{A67BDB3E-CB19-ACE8-0657-177333A19522}"/>
              </a:ext>
            </a:extLst>
          </p:cNvPr>
          <p:cNvSpPr txBox="1"/>
          <p:nvPr/>
        </p:nvSpPr>
        <p:spPr>
          <a:xfrm>
            <a:off x="10645931" y="1369694"/>
            <a:ext cx="1271343" cy="492443"/>
          </a:xfrm>
          <a:prstGeom prst="rect">
            <a:avLst/>
          </a:prstGeom>
          <a:noFill/>
        </p:spPr>
        <p:txBody>
          <a:bodyPr wrap="square" rtlCol="0">
            <a:spAutoFit/>
          </a:bodyPr>
          <a:lstStyle/>
          <a:p>
            <a:pPr lvl="0" algn="ctr" defTabSz="914400" eaLnBrk="0" hangingPunct="0"/>
            <a:r>
              <a:rPr lang="en-US" altLang="en-US" sz="1300" b="1">
                <a:solidFill>
                  <a:schemeClr val="tx1">
                    <a:lumMod val="50000"/>
                    <a:lumOff val="50000"/>
                  </a:schemeClr>
                </a:solidFill>
                <a:latin typeface="Aptos" panose="020B0004020202020204" pitchFamily="34" charset="0"/>
              </a:rPr>
              <a:t>Optical Confirmation</a:t>
            </a:r>
            <a:r>
              <a:rPr lang="en-US" altLang="en-US" sz="1300">
                <a:solidFill>
                  <a:schemeClr val="tx1">
                    <a:lumMod val="50000"/>
                    <a:lumOff val="50000"/>
                  </a:schemeClr>
                </a:solidFill>
                <a:latin typeface="Aptos" panose="020B0004020202020204" pitchFamily="34" charset="0"/>
              </a:rPr>
              <a:t> </a:t>
            </a:r>
          </a:p>
        </p:txBody>
      </p:sp>
      <p:sp>
        <p:nvSpPr>
          <p:cNvPr id="17412" name="TextBox 17411">
            <a:extLst>
              <a:ext uri="{FF2B5EF4-FFF2-40B4-BE49-F238E27FC236}">
                <a16:creationId xmlns:a16="http://schemas.microsoft.com/office/drawing/2014/main" id="{140040A4-0857-09F5-E25F-3F3B5AF7716D}"/>
              </a:ext>
            </a:extLst>
          </p:cNvPr>
          <p:cNvSpPr txBox="1"/>
          <p:nvPr/>
        </p:nvSpPr>
        <p:spPr>
          <a:xfrm>
            <a:off x="10712108" y="2493799"/>
            <a:ext cx="1143000" cy="769441"/>
          </a:xfrm>
          <a:prstGeom prst="rect">
            <a:avLst/>
          </a:prstGeom>
          <a:noFill/>
        </p:spPr>
        <p:txBody>
          <a:bodyPr wrap="square" rtlCol="0">
            <a:spAutoFit/>
          </a:bodyPr>
          <a:lstStyle/>
          <a:p>
            <a:pPr algn="ctr"/>
            <a:r>
              <a:rPr lang="en-IN" sz="1300" b="1" u="sng">
                <a:solidFill>
                  <a:schemeClr val="tx1">
                    <a:lumMod val="50000"/>
                    <a:lumOff val="50000"/>
                  </a:schemeClr>
                </a:solidFill>
                <a:latin typeface="Aptos" panose="020B0004020202020204" pitchFamily="34" charset="0"/>
              </a:rPr>
              <a:t>GIS</a:t>
            </a:r>
            <a:r>
              <a:rPr lang="en-IN" sz="1300" b="1">
                <a:solidFill>
                  <a:schemeClr val="tx1">
                    <a:lumMod val="50000"/>
                    <a:lumOff val="50000"/>
                  </a:schemeClr>
                </a:solidFill>
                <a:latin typeface="Aptos" panose="020B0004020202020204" pitchFamily="34" charset="0"/>
              </a:rPr>
              <a:t> Dashboard</a:t>
            </a:r>
            <a:endParaRPr lang="en-IN" sz="1300">
              <a:solidFill>
                <a:schemeClr val="tx1">
                  <a:lumMod val="50000"/>
                  <a:lumOff val="50000"/>
                </a:schemeClr>
              </a:solidFill>
              <a:latin typeface="Aptos" panose="020B0004020202020204" pitchFamily="34" charset="0"/>
            </a:endParaRPr>
          </a:p>
          <a:p>
            <a:endParaRPr lang="en-IN"/>
          </a:p>
        </p:txBody>
      </p:sp>
      <p:sp>
        <p:nvSpPr>
          <p:cNvPr id="17419" name="TextBox 17418">
            <a:extLst>
              <a:ext uri="{FF2B5EF4-FFF2-40B4-BE49-F238E27FC236}">
                <a16:creationId xmlns:a16="http://schemas.microsoft.com/office/drawing/2014/main" id="{9A46205B-AE2F-34BE-5EED-72E164AD1AEA}"/>
              </a:ext>
            </a:extLst>
          </p:cNvPr>
          <p:cNvSpPr txBox="1"/>
          <p:nvPr/>
        </p:nvSpPr>
        <p:spPr>
          <a:xfrm>
            <a:off x="3983321" y="2497947"/>
            <a:ext cx="1147010" cy="492443"/>
          </a:xfrm>
          <a:prstGeom prst="rect">
            <a:avLst/>
          </a:prstGeom>
          <a:noFill/>
        </p:spPr>
        <p:txBody>
          <a:bodyPr wrap="square" rtlCol="0">
            <a:spAutoFit/>
          </a:bodyPr>
          <a:lstStyle/>
          <a:p>
            <a:pPr algn="ctr"/>
            <a:r>
              <a:rPr lang="en-US" altLang="en-US" sz="1300" b="1">
                <a:solidFill>
                  <a:srgbClr val="FFFFFF"/>
                </a:solidFill>
                <a:latin typeface="Aptos" panose="020B0004020202020204" pitchFamily="34" charset="0"/>
              </a:rPr>
              <a:t>Flare</a:t>
            </a:r>
            <a:endParaRPr lang="en-US" altLang="en-US" sz="1300">
              <a:solidFill>
                <a:srgbClr val="FFFFFF"/>
              </a:solidFill>
              <a:latin typeface="Aptos" panose="020B0004020202020204" pitchFamily="34" charset="0"/>
            </a:endParaRPr>
          </a:p>
          <a:p>
            <a:pPr algn="ctr"/>
            <a:r>
              <a:rPr lang="en-IN" sz="1300" b="1">
                <a:solidFill>
                  <a:srgbClr val="FFFFFF"/>
                </a:solidFill>
              </a:rPr>
              <a:t>Confirmed</a:t>
            </a:r>
          </a:p>
        </p:txBody>
      </p:sp>
      <p:sp>
        <p:nvSpPr>
          <p:cNvPr id="17431" name="TextBox 17430">
            <a:extLst>
              <a:ext uri="{FF2B5EF4-FFF2-40B4-BE49-F238E27FC236}">
                <a16:creationId xmlns:a16="http://schemas.microsoft.com/office/drawing/2014/main" id="{74DEF04E-9117-5533-5D6D-2E3E0270EA0B}"/>
              </a:ext>
            </a:extLst>
          </p:cNvPr>
          <p:cNvSpPr txBox="1"/>
          <p:nvPr/>
        </p:nvSpPr>
        <p:spPr>
          <a:xfrm>
            <a:off x="4864797" y="847632"/>
            <a:ext cx="756938" cy="261610"/>
          </a:xfrm>
          <a:prstGeom prst="rect">
            <a:avLst/>
          </a:prstGeom>
          <a:noFill/>
        </p:spPr>
        <p:txBody>
          <a:bodyPr wrap="none" rtlCol="0">
            <a:spAutoFit/>
          </a:bodyPr>
          <a:lstStyle/>
          <a:p>
            <a:r>
              <a:rPr lang="en-IN" sz="1100" b="1">
                <a:latin typeface="Aptos" panose="020B0004020202020204" pitchFamily="34" charset="0"/>
              </a:rPr>
              <a:t>FACILITY</a:t>
            </a:r>
          </a:p>
        </p:txBody>
      </p:sp>
      <p:cxnSp>
        <p:nvCxnSpPr>
          <p:cNvPr id="17436" name="Straight Connector 17435">
            <a:extLst>
              <a:ext uri="{FF2B5EF4-FFF2-40B4-BE49-F238E27FC236}">
                <a16:creationId xmlns:a16="http://schemas.microsoft.com/office/drawing/2014/main" id="{6D6A7501-23CF-7CEF-0DE0-395CDBE77B20}"/>
              </a:ext>
            </a:extLst>
          </p:cNvPr>
          <p:cNvCxnSpPr>
            <a:cxnSpLocks/>
          </p:cNvCxnSpPr>
          <p:nvPr/>
        </p:nvCxnSpPr>
        <p:spPr>
          <a:xfrm>
            <a:off x="2771885" y="3493340"/>
            <a:ext cx="0" cy="2687053"/>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439" name="Straight Connector 17438">
            <a:extLst>
              <a:ext uri="{FF2B5EF4-FFF2-40B4-BE49-F238E27FC236}">
                <a16:creationId xmlns:a16="http://schemas.microsoft.com/office/drawing/2014/main" id="{85DA37C1-B7B0-02AD-5034-892AA6BBB297}"/>
              </a:ext>
            </a:extLst>
          </p:cNvPr>
          <p:cNvCxnSpPr>
            <a:cxnSpLocks/>
          </p:cNvCxnSpPr>
          <p:nvPr/>
        </p:nvCxnSpPr>
        <p:spPr>
          <a:xfrm>
            <a:off x="5293892" y="3488013"/>
            <a:ext cx="0" cy="2687053"/>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440" name="Straight Connector 17439">
            <a:extLst>
              <a:ext uri="{FF2B5EF4-FFF2-40B4-BE49-F238E27FC236}">
                <a16:creationId xmlns:a16="http://schemas.microsoft.com/office/drawing/2014/main" id="{5130FD73-D34E-3979-EB11-3815D94446B2}"/>
              </a:ext>
            </a:extLst>
          </p:cNvPr>
          <p:cNvCxnSpPr>
            <a:cxnSpLocks/>
          </p:cNvCxnSpPr>
          <p:nvPr/>
        </p:nvCxnSpPr>
        <p:spPr>
          <a:xfrm>
            <a:off x="7644770" y="3488013"/>
            <a:ext cx="0" cy="2687053"/>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441" name="Straight Connector 17440">
            <a:extLst>
              <a:ext uri="{FF2B5EF4-FFF2-40B4-BE49-F238E27FC236}">
                <a16:creationId xmlns:a16="http://schemas.microsoft.com/office/drawing/2014/main" id="{84718A0B-67F8-F090-8042-844B3FB848F7}"/>
              </a:ext>
            </a:extLst>
          </p:cNvPr>
          <p:cNvCxnSpPr>
            <a:cxnSpLocks/>
          </p:cNvCxnSpPr>
          <p:nvPr/>
        </p:nvCxnSpPr>
        <p:spPr>
          <a:xfrm>
            <a:off x="10164823" y="3493340"/>
            <a:ext cx="0" cy="2687053"/>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442" name="TextBox 17441">
            <a:extLst>
              <a:ext uri="{FF2B5EF4-FFF2-40B4-BE49-F238E27FC236}">
                <a16:creationId xmlns:a16="http://schemas.microsoft.com/office/drawing/2014/main" id="{1F458174-A444-5CD5-5F78-A34DEF71AA33}"/>
              </a:ext>
            </a:extLst>
          </p:cNvPr>
          <p:cNvSpPr txBox="1"/>
          <p:nvPr/>
        </p:nvSpPr>
        <p:spPr>
          <a:xfrm>
            <a:off x="91267" y="3451872"/>
            <a:ext cx="2734150" cy="1384995"/>
          </a:xfrm>
          <a:prstGeom prst="rect">
            <a:avLst/>
          </a:prstGeom>
          <a:noFill/>
        </p:spPr>
        <p:txBody>
          <a:bodyPr wrap="square" rtlCol="0">
            <a:spAutoFit/>
          </a:bodyPr>
          <a:lstStyle/>
          <a:p>
            <a:r>
              <a:rPr lang="en-IN" sz="1200" b="1">
                <a:latin typeface="Aptos" panose="020B0004020202020204" pitchFamily="34" charset="0"/>
              </a:rPr>
              <a:t>INSAT + FIRMS Ingest</a:t>
            </a:r>
            <a:r>
              <a:rPr lang="en-IN" sz="1200">
                <a:latin typeface="Aptos" panose="020B0004020202020204" pitchFamily="34" charset="0"/>
              </a:rPr>
              <a:t> – INSAT-3D/3DR every 30 min (MIR/TIR) for continuous monitoring plus estimated FRP in MW; FIRMS VIIRS/MODIS every ~3 hr for polar confirmation. Joined to facility registry, tagged with satellite and source_tier.</a:t>
            </a:r>
          </a:p>
        </p:txBody>
      </p:sp>
      <p:sp>
        <p:nvSpPr>
          <p:cNvPr id="17443" name="TextBox 17442">
            <a:extLst>
              <a:ext uri="{FF2B5EF4-FFF2-40B4-BE49-F238E27FC236}">
                <a16:creationId xmlns:a16="http://schemas.microsoft.com/office/drawing/2014/main" id="{4C5357C4-6255-92E1-3847-7607A6E52405}"/>
              </a:ext>
            </a:extLst>
          </p:cNvPr>
          <p:cNvSpPr txBox="1"/>
          <p:nvPr/>
        </p:nvSpPr>
        <p:spPr>
          <a:xfrm>
            <a:off x="100262" y="4723800"/>
            <a:ext cx="2574759" cy="1569660"/>
          </a:xfrm>
          <a:prstGeom prst="rect">
            <a:avLst/>
          </a:prstGeom>
          <a:noFill/>
        </p:spPr>
        <p:txBody>
          <a:bodyPr wrap="square" rtlCol="0">
            <a:spAutoFit/>
          </a:bodyPr>
          <a:lstStyle/>
          <a:p>
            <a:r>
              <a:rPr lang="en-GB" sz="1200" b="1">
                <a:latin typeface="Aptos" panose="020B0004020202020204" pitchFamily="34" charset="0"/>
              </a:rPr>
              <a:t>Land-Cover (Bhuvan)</a:t>
            </a:r>
            <a:r>
              <a:rPr lang="en-GB" sz="1200">
                <a:latin typeface="Aptos" panose="020B0004020202020204" pitchFamily="34" charset="0"/>
              </a:rPr>
              <a:t> – Hotspot coordinates checked against Bhuvan LULC via buffer-based lookup (~300–500m). Confirms forest, cropland, built-up, mining, or water - mining verified as a distinct sub-class. Facilities tagged with facility_type.</a:t>
            </a:r>
            <a:endParaRPr lang="en-IN" sz="1200">
              <a:latin typeface="Aptos" panose="020B0004020202020204" pitchFamily="34" charset="0"/>
            </a:endParaRPr>
          </a:p>
        </p:txBody>
      </p:sp>
      <p:sp>
        <p:nvSpPr>
          <p:cNvPr id="17444" name="TextBox 17443">
            <a:extLst>
              <a:ext uri="{FF2B5EF4-FFF2-40B4-BE49-F238E27FC236}">
                <a16:creationId xmlns:a16="http://schemas.microsoft.com/office/drawing/2014/main" id="{E803481E-E117-F809-03DE-F68104155482}"/>
              </a:ext>
            </a:extLst>
          </p:cNvPr>
          <p:cNvSpPr txBox="1"/>
          <p:nvPr/>
        </p:nvSpPr>
        <p:spPr>
          <a:xfrm>
            <a:off x="2759841" y="3397178"/>
            <a:ext cx="2373010" cy="1569660"/>
          </a:xfrm>
          <a:prstGeom prst="rect">
            <a:avLst/>
          </a:prstGeom>
          <a:noFill/>
        </p:spPr>
        <p:txBody>
          <a:bodyPr wrap="square" rtlCol="0">
            <a:spAutoFit/>
          </a:bodyPr>
          <a:lstStyle/>
          <a:p>
            <a:r>
              <a:rPr lang="en-IN" sz="1200" b="1">
                <a:latin typeface="Aptos" panose="020B0004020202020204" pitchFamily="34" charset="0"/>
              </a:rPr>
              <a:t>Flare Pre-Filter</a:t>
            </a:r>
            <a:r>
              <a:rPr lang="en-IN" sz="1200">
                <a:latin typeface="Aptos" panose="020B0004020202020204" pitchFamily="34" charset="0"/>
              </a:rPr>
              <a:t> – Cross-checks against VIIRS Nightfire catalog; new PFM and SHM masks reduce industrial false positives; daytime detection added via Sentinel-2 SWIR bands (B11/B12), closing the daylight blind spot.</a:t>
            </a:r>
          </a:p>
        </p:txBody>
      </p:sp>
      <p:sp>
        <p:nvSpPr>
          <p:cNvPr id="17445" name="TextBox 17444">
            <a:extLst>
              <a:ext uri="{FF2B5EF4-FFF2-40B4-BE49-F238E27FC236}">
                <a16:creationId xmlns:a16="http://schemas.microsoft.com/office/drawing/2014/main" id="{EBE11A62-0C0A-8F58-8E30-B24FD16E13F6}"/>
              </a:ext>
            </a:extLst>
          </p:cNvPr>
          <p:cNvSpPr txBox="1"/>
          <p:nvPr/>
        </p:nvSpPr>
        <p:spPr>
          <a:xfrm>
            <a:off x="2759841" y="4875200"/>
            <a:ext cx="2561506" cy="1384995"/>
          </a:xfrm>
          <a:prstGeom prst="rect">
            <a:avLst/>
          </a:prstGeom>
          <a:noFill/>
        </p:spPr>
        <p:txBody>
          <a:bodyPr wrap="square" rtlCol="0">
            <a:spAutoFit/>
          </a:bodyPr>
          <a:lstStyle/>
          <a:p>
            <a:r>
              <a:rPr lang="en-GB" sz="1200" b="1">
                <a:latin typeface="Aptos" panose="020B0004020202020204" pitchFamily="34" charset="0"/>
              </a:rPr>
              <a:t>Flare Confirmed</a:t>
            </a:r>
            <a:r>
              <a:rPr lang="en-GB" sz="1200">
                <a:latin typeface="Aptos" panose="020B0004020202020204" pitchFamily="34" charset="0"/>
              </a:rPr>
              <a:t> – Matched flares</a:t>
            </a:r>
          </a:p>
          <a:p>
            <a:r>
              <a:rPr lang="en-GB" sz="1200">
                <a:latin typeface="Aptos" panose="020B0004020202020204" pitchFamily="34" charset="0"/>
              </a:rPr>
              <a:t>skip Cold-Start and Classification but pass a lightweight intensity check against historical FRP — flags abnormal escalation instead of routine pass-through, then rejoins at Validate &amp; Flag.</a:t>
            </a:r>
            <a:endParaRPr lang="en-IN" sz="1200">
              <a:latin typeface="Aptos" panose="020B0004020202020204" pitchFamily="34" charset="0"/>
            </a:endParaRPr>
          </a:p>
        </p:txBody>
      </p:sp>
      <p:sp>
        <p:nvSpPr>
          <p:cNvPr id="17446" name="TextBox 17445">
            <a:extLst>
              <a:ext uri="{FF2B5EF4-FFF2-40B4-BE49-F238E27FC236}">
                <a16:creationId xmlns:a16="http://schemas.microsoft.com/office/drawing/2014/main" id="{B4CC9ABA-B615-0D35-CBFE-9CAD82109BD8}"/>
              </a:ext>
            </a:extLst>
          </p:cNvPr>
          <p:cNvSpPr txBox="1"/>
          <p:nvPr/>
        </p:nvSpPr>
        <p:spPr>
          <a:xfrm>
            <a:off x="5281855" y="3402886"/>
            <a:ext cx="2457831" cy="1569660"/>
          </a:xfrm>
          <a:prstGeom prst="rect">
            <a:avLst/>
          </a:prstGeom>
          <a:noFill/>
        </p:spPr>
        <p:txBody>
          <a:bodyPr wrap="square" rtlCol="0">
            <a:spAutoFit/>
          </a:bodyPr>
          <a:lstStyle/>
          <a:p>
            <a:r>
              <a:rPr lang="en-GB" sz="1200" b="1">
                <a:latin typeface="Aptos" panose="020B0004020202020204" pitchFamily="34" charset="0"/>
              </a:rPr>
              <a:t>Store &amp; Baseline –</a:t>
            </a:r>
            <a:r>
              <a:rPr lang="en-GB" sz="1200">
                <a:latin typeface="Aptos" panose="020B0004020202020204" pitchFamily="34" charset="0"/>
              </a:rPr>
              <a:t> All readings (facility and flare, tagged by reading_type) inserted into TimescaleDB's 90-day window; older data archived to Parquet. Daily rolling_mean/std recompute builds each site's thermal fingerprint.</a:t>
            </a:r>
            <a:endParaRPr lang="en-GB" sz="1200">
              <a:effectLst/>
              <a:latin typeface="Aptos" panose="020B0004020202020204" pitchFamily="34" charset="0"/>
            </a:endParaRPr>
          </a:p>
        </p:txBody>
      </p:sp>
      <p:sp>
        <p:nvSpPr>
          <p:cNvPr id="17447" name="TextBox 17446">
            <a:extLst>
              <a:ext uri="{FF2B5EF4-FFF2-40B4-BE49-F238E27FC236}">
                <a16:creationId xmlns:a16="http://schemas.microsoft.com/office/drawing/2014/main" id="{927089DC-7FA9-BF5B-208D-86A8F8140C91}"/>
              </a:ext>
            </a:extLst>
          </p:cNvPr>
          <p:cNvSpPr txBox="1"/>
          <p:nvPr/>
        </p:nvSpPr>
        <p:spPr>
          <a:xfrm>
            <a:off x="5281856" y="4876792"/>
            <a:ext cx="2360964" cy="1384995"/>
          </a:xfrm>
          <a:prstGeom prst="rect">
            <a:avLst/>
          </a:prstGeom>
          <a:noFill/>
        </p:spPr>
        <p:txBody>
          <a:bodyPr wrap="square" rtlCol="0">
            <a:spAutoFit/>
          </a:bodyPr>
          <a:lstStyle/>
          <a:p>
            <a:r>
              <a:rPr lang="en-GB" sz="1200" b="1">
                <a:latin typeface="Aptos" panose="020B0004020202020204" pitchFamily="34" charset="0"/>
              </a:rPr>
              <a:t>Cold-Start Gate</a:t>
            </a:r>
            <a:r>
              <a:rPr lang="en-GB" sz="1200">
                <a:latin typeface="Aptos" panose="020B0004020202020204" pitchFamily="34" charset="0"/>
              </a:rPr>
              <a:t> – New facilities marked insufficient_baseline until enough samples exist; monitored via a temporary industry-average baseline with lower confidence instead of left unmonitored.</a:t>
            </a:r>
            <a:endParaRPr lang="en-IN" sz="1200">
              <a:latin typeface="Aptos" panose="020B0004020202020204" pitchFamily="34" charset="0"/>
            </a:endParaRPr>
          </a:p>
        </p:txBody>
      </p:sp>
      <p:sp>
        <p:nvSpPr>
          <p:cNvPr id="17448" name="TextBox 17447">
            <a:extLst>
              <a:ext uri="{FF2B5EF4-FFF2-40B4-BE49-F238E27FC236}">
                <a16:creationId xmlns:a16="http://schemas.microsoft.com/office/drawing/2014/main" id="{8B76A310-E487-8623-029A-BC47A0AF205A}"/>
              </a:ext>
            </a:extLst>
          </p:cNvPr>
          <p:cNvSpPr txBox="1"/>
          <p:nvPr/>
        </p:nvSpPr>
        <p:spPr>
          <a:xfrm>
            <a:off x="7631478" y="3392566"/>
            <a:ext cx="2533347" cy="1200329"/>
          </a:xfrm>
          <a:prstGeom prst="rect">
            <a:avLst/>
          </a:prstGeom>
          <a:noFill/>
        </p:spPr>
        <p:txBody>
          <a:bodyPr wrap="square" rtlCol="0">
            <a:spAutoFit/>
          </a:bodyPr>
          <a:lstStyle/>
          <a:p>
            <a:r>
              <a:rPr lang="en-GB" sz="1200" b="1">
                <a:latin typeface="Aptos" panose="020B0004020202020204" pitchFamily="34" charset="0"/>
              </a:rPr>
              <a:t>XGBoost Classification</a:t>
            </a:r>
            <a:r>
              <a:rPr lang="en-GB" sz="1200">
                <a:latin typeface="Aptos" panose="020B0004020202020204" pitchFamily="34" charset="0"/>
              </a:rPr>
              <a:t> – Single model ( per research showing fewer false positives), trained on land_cover_class + facility_type + thermal features, outputs one of six labels with probabilities stored.</a:t>
            </a:r>
            <a:endParaRPr lang="en-IN" sz="1200">
              <a:latin typeface="Aptos" panose="020B0004020202020204" pitchFamily="34" charset="0"/>
            </a:endParaRPr>
          </a:p>
        </p:txBody>
      </p:sp>
      <p:sp>
        <p:nvSpPr>
          <p:cNvPr id="17449" name="TextBox 17448">
            <a:extLst>
              <a:ext uri="{FF2B5EF4-FFF2-40B4-BE49-F238E27FC236}">
                <a16:creationId xmlns:a16="http://schemas.microsoft.com/office/drawing/2014/main" id="{ED1461F8-2E96-3EF0-D89A-0F4253DF275D}"/>
              </a:ext>
            </a:extLst>
          </p:cNvPr>
          <p:cNvSpPr txBox="1"/>
          <p:nvPr/>
        </p:nvSpPr>
        <p:spPr>
          <a:xfrm>
            <a:off x="7644770" y="4651611"/>
            <a:ext cx="2533345" cy="1569660"/>
          </a:xfrm>
          <a:prstGeom prst="rect">
            <a:avLst/>
          </a:prstGeom>
          <a:noFill/>
        </p:spPr>
        <p:txBody>
          <a:bodyPr wrap="square" rtlCol="0">
            <a:spAutoFit/>
          </a:bodyPr>
          <a:lstStyle/>
          <a:p>
            <a:r>
              <a:rPr lang="en-IN" sz="1200" b="1">
                <a:latin typeface="Aptos" panose="020B0004020202020204" pitchFamily="34" charset="0"/>
              </a:rPr>
              <a:t>Validate &amp; Flag</a:t>
            </a:r>
            <a:r>
              <a:rPr lang="en-IN" sz="1200">
                <a:latin typeface="Aptos" panose="020B0004020202020204" pitchFamily="34" charset="0"/>
              </a:rPr>
              <a:t> – Two-tier: Tier 1 geostationary issues a preliminary alert (~20–30 min); Tier 2 polar pass corroborates via z-score + persistence, setting status confirmed/under_review/dismissed - also the flare branch's merge point.</a:t>
            </a:r>
          </a:p>
        </p:txBody>
      </p:sp>
      <p:sp>
        <p:nvSpPr>
          <p:cNvPr id="17450" name="TextBox 17449">
            <a:extLst>
              <a:ext uri="{FF2B5EF4-FFF2-40B4-BE49-F238E27FC236}">
                <a16:creationId xmlns:a16="http://schemas.microsoft.com/office/drawing/2014/main" id="{B81F4B2F-B36E-ACE8-4667-E48FC96F36AF}"/>
              </a:ext>
            </a:extLst>
          </p:cNvPr>
          <p:cNvSpPr txBox="1"/>
          <p:nvPr/>
        </p:nvSpPr>
        <p:spPr>
          <a:xfrm>
            <a:off x="10171931" y="3420431"/>
            <a:ext cx="2135244" cy="1015663"/>
          </a:xfrm>
          <a:prstGeom prst="rect">
            <a:avLst/>
          </a:prstGeom>
          <a:noFill/>
        </p:spPr>
        <p:txBody>
          <a:bodyPr wrap="square" rtlCol="0">
            <a:spAutoFit/>
          </a:bodyPr>
          <a:lstStyle/>
          <a:p>
            <a:r>
              <a:rPr lang="en-GB" sz="1200" b="1">
                <a:latin typeface="Aptos" panose="020B0004020202020204" pitchFamily="34" charset="0"/>
              </a:rPr>
              <a:t>Explainable AI (SHAP)</a:t>
            </a:r>
            <a:r>
              <a:rPr lang="en-GB" sz="1200">
                <a:latin typeface="Aptos" panose="020B0004020202020204" pitchFamily="34" charset="0"/>
              </a:rPr>
              <a:t> – TreeExplainer generates feature attributions as a plain-language narrative per event.</a:t>
            </a:r>
            <a:endParaRPr lang="en-IN" sz="1200">
              <a:latin typeface="Aptos" panose="020B0004020202020204" pitchFamily="34" charset="0"/>
            </a:endParaRPr>
          </a:p>
        </p:txBody>
      </p:sp>
      <p:sp>
        <p:nvSpPr>
          <p:cNvPr id="17451" name="TextBox 17450">
            <a:extLst>
              <a:ext uri="{FF2B5EF4-FFF2-40B4-BE49-F238E27FC236}">
                <a16:creationId xmlns:a16="http://schemas.microsoft.com/office/drawing/2014/main" id="{8188E739-98EF-BB2B-4CED-5D7F1AB0BAE9}"/>
              </a:ext>
            </a:extLst>
          </p:cNvPr>
          <p:cNvSpPr txBox="1"/>
          <p:nvPr/>
        </p:nvSpPr>
        <p:spPr>
          <a:xfrm>
            <a:off x="10166773" y="4411591"/>
            <a:ext cx="1996895" cy="1200329"/>
          </a:xfrm>
          <a:prstGeom prst="rect">
            <a:avLst/>
          </a:prstGeom>
          <a:noFill/>
        </p:spPr>
        <p:txBody>
          <a:bodyPr wrap="square" rtlCol="0">
            <a:spAutoFit/>
          </a:bodyPr>
          <a:lstStyle/>
          <a:p>
            <a:r>
              <a:rPr lang="en-GB" sz="1200" b="1"/>
              <a:t>Optical Confirmation</a:t>
            </a:r>
            <a:r>
              <a:rPr lang="en-GB" sz="1200"/>
              <a:t> – Background worker auto-fetches a Sentinel-2 or Resourcesat image after alerting; failures never block it.</a:t>
            </a:r>
            <a:endParaRPr lang="en-GB" sz="1200">
              <a:effectLst/>
            </a:endParaRPr>
          </a:p>
        </p:txBody>
      </p:sp>
      <p:sp>
        <p:nvSpPr>
          <p:cNvPr id="17452" name="TextBox 17451">
            <a:extLst>
              <a:ext uri="{FF2B5EF4-FFF2-40B4-BE49-F238E27FC236}">
                <a16:creationId xmlns:a16="http://schemas.microsoft.com/office/drawing/2014/main" id="{0D97A558-B67C-0CE2-1C1F-DE8AA042411E}"/>
              </a:ext>
            </a:extLst>
          </p:cNvPr>
          <p:cNvSpPr txBox="1"/>
          <p:nvPr/>
        </p:nvSpPr>
        <p:spPr>
          <a:xfrm>
            <a:off x="10150838" y="5568543"/>
            <a:ext cx="1968975" cy="646331"/>
          </a:xfrm>
          <a:prstGeom prst="rect">
            <a:avLst/>
          </a:prstGeom>
          <a:noFill/>
        </p:spPr>
        <p:txBody>
          <a:bodyPr wrap="square" rtlCol="0">
            <a:spAutoFit/>
          </a:bodyPr>
          <a:lstStyle/>
          <a:p>
            <a:r>
              <a:rPr lang="en-GB" sz="1200" b="1">
                <a:latin typeface="Aptos" panose="020B0004020202020204" pitchFamily="34" charset="0"/>
              </a:rPr>
              <a:t>GIS Dashboard</a:t>
            </a:r>
            <a:r>
              <a:rPr lang="en-GB" sz="1200">
                <a:latin typeface="Aptos" panose="020B0004020202020204" pitchFamily="34" charset="0"/>
              </a:rPr>
              <a:t> – Live map shows status, class, land cover, FRP, and evidence.</a:t>
            </a:r>
            <a:endParaRPr lang="en-IN" sz="1200">
              <a:latin typeface="Aptos" panose="020B0004020202020204" pitchFamily="34" charset="0"/>
            </a:endParaRPr>
          </a:p>
        </p:txBody>
      </p:sp>
      <p:sp>
        <p:nvSpPr>
          <p:cNvPr id="17453" name="TextBox 17452">
            <a:extLst>
              <a:ext uri="{FF2B5EF4-FFF2-40B4-BE49-F238E27FC236}">
                <a16:creationId xmlns:a16="http://schemas.microsoft.com/office/drawing/2014/main" id="{4F739E92-B319-D06F-F8A4-2E14ACABD9FE}"/>
              </a:ext>
            </a:extLst>
          </p:cNvPr>
          <p:cNvSpPr txBox="1"/>
          <p:nvPr/>
        </p:nvSpPr>
        <p:spPr>
          <a:xfrm>
            <a:off x="5963041" y="2766680"/>
            <a:ext cx="1633652" cy="276999"/>
          </a:xfrm>
          <a:prstGeom prst="rect">
            <a:avLst/>
          </a:prstGeom>
          <a:noFill/>
        </p:spPr>
        <p:txBody>
          <a:bodyPr wrap="none" rtlCol="0">
            <a:spAutoFit/>
          </a:bodyPr>
          <a:lstStyle/>
          <a:p>
            <a:r>
              <a:rPr lang="en-US" altLang="en-US" sz="1200" b="1">
                <a:solidFill>
                  <a:schemeClr val="tx1">
                    <a:lumMod val="75000"/>
                    <a:lumOff val="25000"/>
                  </a:schemeClr>
                </a:solidFill>
                <a:latin typeface="Aptos" panose="020B0004020202020204" pitchFamily="34" charset="0"/>
              </a:rPr>
              <a:t>Flare Baseline check</a:t>
            </a:r>
            <a:endParaRPr lang="en-IN" sz="1200">
              <a:solidFill>
                <a:schemeClr val="tx1">
                  <a:lumMod val="75000"/>
                  <a:lumOff val="25000"/>
                </a:schemeClr>
              </a:solidFill>
            </a:endParaRPr>
          </a:p>
        </p:txBody>
      </p:sp>
      <p:cxnSp>
        <p:nvCxnSpPr>
          <p:cNvPr id="17463" name="Straight Arrow Connector 17462">
            <a:extLst>
              <a:ext uri="{FF2B5EF4-FFF2-40B4-BE49-F238E27FC236}">
                <a16:creationId xmlns:a16="http://schemas.microsoft.com/office/drawing/2014/main" id="{924A0A2B-EF2E-754A-3553-C79893830053}"/>
              </a:ext>
            </a:extLst>
          </p:cNvPr>
          <p:cNvCxnSpPr>
            <a:stCxn id="8" idx="2"/>
            <a:endCxn id="21" idx="0"/>
          </p:cNvCxnSpPr>
          <p:nvPr/>
        </p:nvCxnSpPr>
        <p:spPr>
          <a:xfrm flipH="1">
            <a:off x="4558831" y="2118705"/>
            <a:ext cx="515" cy="217630"/>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7470" name="Straight Arrow Connector 17469">
            <a:extLst>
              <a:ext uri="{FF2B5EF4-FFF2-40B4-BE49-F238E27FC236}">
                <a16:creationId xmlns:a16="http://schemas.microsoft.com/office/drawing/2014/main" id="{E47685D2-B123-D877-5643-3AD10F1714A4}"/>
              </a:ext>
            </a:extLst>
          </p:cNvPr>
          <p:cNvCxnSpPr>
            <a:cxnSpLocks/>
          </p:cNvCxnSpPr>
          <p:nvPr/>
        </p:nvCxnSpPr>
        <p:spPr>
          <a:xfrm>
            <a:off x="5281855" y="1109242"/>
            <a:ext cx="16797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000" b="1" dirty="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Rectangle: Rounded Corners 8">
            <a:extLst>
              <a:ext uri="{FF2B5EF4-FFF2-40B4-BE49-F238E27FC236}">
                <a16:creationId xmlns:a16="http://schemas.microsoft.com/office/drawing/2014/main" id="{CD4D9BC4-C584-6181-C590-567B4622EC94}"/>
              </a:ext>
            </a:extLst>
          </p:cNvPr>
          <p:cNvSpPr/>
          <p:nvPr/>
        </p:nvSpPr>
        <p:spPr>
          <a:xfrm>
            <a:off x="4189030" y="1101404"/>
            <a:ext cx="3832528" cy="5064981"/>
          </a:xfrm>
          <a:prstGeom prst="roundRect">
            <a:avLst>
              <a:gd name="adj" fmla="val 3804"/>
            </a:avLst>
          </a:prstGeom>
          <a:solidFill>
            <a:srgbClr val="FFFFFF"/>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6E567C7D-BB48-D555-EB88-DF2A713CEE3B}"/>
              </a:ext>
            </a:extLst>
          </p:cNvPr>
          <p:cNvSpPr/>
          <p:nvPr/>
        </p:nvSpPr>
        <p:spPr>
          <a:xfrm>
            <a:off x="152400" y="1099419"/>
            <a:ext cx="3832528" cy="5066966"/>
          </a:xfrm>
          <a:prstGeom prst="roundRect">
            <a:avLst>
              <a:gd name="adj" fmla="val 4219"/>
            </a:avLst>
          </a:prstGeom>
          <a:solidFill>
            <a:schemeClr val="bg1"/>
          </a:solidFill>
          <a:ln w="63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5428F76F-E258-6FB4-12EB-5144D8698696}"/>
              </a:ext>
            </a:extLst>
          </p:cNvPr>
          <p:cNvSpPr/>
          <p:nvPr/>
        </p:nvSpPr>
        <p:spPr>
          <a:xfrm>
            <a:off x="8207072" y="1098117"/>
            <a:ext cx="3832528" cy="5066966"/>
          </a:xfrm>
          <a:prstGeom prst="roundRect">
            <a:avLst>
              <a:gd name="adj" fmla="val 3180"/>
            </a:avLst>
          </a:prstGeom>
          <a:solidFill>
            <a:schemeClr val="bg1"/>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8DCF2169-A34E-38D4-5717-87B871B8ED5E}"/>
              </a:ext>
            </a:extLst>
          </p:cNvPr>
          <p:cNvSpPr txBox="1"/>
          <p:nvPr/>
        </p:nvSpPr>
        <p:spPr>
          <a:xfrm>
            <a:off x="208876" y="1077693"/>
            <a:ext cx="1853713" cy="292388"/>
          </a:xfrm>
          <a:prstGeom prst="rect">
            <a:avLst/>
          </a:prstGeom>
          <a:noFill/>
        </p:spPr>
        <p:txBody>
          <a:bodyPr wrap="none" rtlCol="0">
            <a:spAutoFit/>
          </a:bodyPr>
          <a:lstStyle/>
          <a:p>
            <a:r>
              <a:rPr lang="en-GB" sz="1300" b="1" u="sng">
                <a:latin typeface="Aptos" panose="020B0004020202020204" pitchFamily="34" charset="0"/>
              </a:rPr>
              <a:t>Feasibility Of The Idea</a:t>
            </a:r>
            <a:endParaRPr lang="en-IN" sz="1300" b="1" u="sng">
              <a:latin typeface="Aptos" panose="020B0004020202020204" pitchFamily="34" charset="0"/>
            </a:endParaRPr>
          </a:p>
        </p:txBody>
      </p:sp>
      <p:sp>
        <p:nvSpPr>
          <p:cNvPr id="16" name="TextBox 15">
            <a:extLst>
              <a:ext uri="{FF2B5EF4-FFF2-40B4-BE49-F238E27FC236}">
                <a16:creationId xmlns:a16="http://schemas.microsoft.com/office/drawing/2014/main" id="{C6E4B278-CF58-D889-7BCA-4617A9F14F69}"/>
              </a:ext>
            </a:extLst>
          </p:cNvPr>
          <p:cNvSpPr txBox="1"/>
          <p:nvPr/>
        </p:nvSpPr>
        <p:spPr>
          <a:xfrm>
            <a:off x="4224657" y="1143003"/>
            <a:ext cx="2522870" cy="292388"/>
          </a:xfrm>
          <a:prstGeom prst="rect">
            <a:avLst/>
          </a:prstGeom>
          <a:noFill/>
        </p:spPr>
        <p:txBody>
          <a:bodyPr wrap="none" rtlCol="0">
            <a:spAutoFit/>
          </a:bodyPr>
          <a:lstStyle/>
          <a:p>
            <a:r>
              <a:rPr lang="en-GB" sz="1300" b="1" u="sng">
                <a:latin typeface="Aptos" panose="020B0004020202020204" pitchFamily="34" charset="0"/>
              </a:rPr>
              <a:t>Potential Challenges and Risks</a:t>
            </a:r>
            <a:endParaRPr lang="en-IN" sz="1300" b="1" u="sng">
              <a:latin typeface="Aptos" panose="020B0004020202020204" pitchFamily="34" charset="0"/>
            </a:endParaRPr>
          </a:p>
        </p:txBody>
      </p:sp>
      <p:sp>
        <p:nvSpPr>
          <p:cNvPr id="17" name="TextBox 16">
            <a:extLst>
              <a:ext uri="{FF2B5EF4-FFF2-40B4-BE49-F238E27FC236}">
                <a16:creationId xmlns:a16="http://schemas.microsoft.com/office/drawing/2014/main" id="{228D9E6D-EA76-8379-394B-771AF55B794B}"/>
              </a:ext>
            </a:extLst>
          </p:cNvPr>
          <p:cNvSpPr txBox="1"/>
          <p:nvPr/>
        </p:nvSpPr>
        <p:spPr>
          <a:xfrm>
            <a:off x="8243736" y="1143003"/>
            <a:ext cx="2737160" cy="292388"/>
          </a:xfrm>
          <a:prstGeom prst="rect">
            <a:avLst/>
          </a:prstGeom>
          <a:noFill/>
        </p:spPr>
        <p:txBody>
          <a:bodyPr wrap="none" rtlCol="0">
            <a:spAutoFit/>
          </a:bodyPr>
          <a:lstStyle/>
          <a:p>
            <a:r>
              <a:rPr lang="en-GB" sz="1300" b="1" u="sng">
                <a:latin typeface="Aptos" panose="020B0004020202020204" pitchFamily="34" charset="0"/>
              </a:rPr>
              <a:t>Strategies</a:t>
            </a:r>
            <a:r>
              <a:rPr lang="en-GB" sz="1300" b="1" u="sng">
                <a:latin typeface="Aptos Display" panose="020B0004020202020204" pitchFamily="34" charset="0"/>
              </a:rPr>
              <a:t> To Overcome Challenges</a:t>
            </a:r>
            <a:endParaRPr lang="en-IN" sz="1300" b="1" u="sng">
              <a:latin typeface="Aptos Display" panose="020B0004020202020204" pitchFamily="34" charset="0"/>
            </a:endParaRPr>
          </a:p>
        </p:txBody>
      </p:sp>
      <p:sp>
        <p:nvSpPr>
          <p:cNvPr id="18" name="TextBox 17">
            <a:extLst>
              <a:ext uri="{FF2B5EF4-FFF2-40B4-BE49-F238E27FC236}">
                <a16:creationId xmlns:a16="http://schemas.microsoft.com/office/drawing/2014/main" id="{64AC477E-B71D-9ED5-02D8-5430C85DC2C7}"/>
              </a:ext>
            </a:extLst>
          </p:cNvPr>
          <p:cNvSpPr txBox="1"/>
          <p:nvPr/>
        </p:nvSpPr>
        <p:spPr>
          <a:xfrm>
            <a:off x="127510" y="1326154"/>
            <a:ext cx="3946865" cy="1092607"/>
          </a:xfrm>
          <a:prstGeom prst="rect">
            <a:avLst/>
          </a:prstGeom>
          <a:noFill/>
        </p:spPr>
        <p:txBody>
          <a:bodyPr wrap="square" rtlCol="0">
            <a:spAutoFit/>
          </a:bodyPr>
          <a:lstStyle/>
          <a:p>
            <a:pPr marL="285750" indent="-285750">
              <a:buFont typeface="Arial" panose="020B0604020202020204" pitchFamily="34" charset="0"/>
              <a:buChar char="•"/>
            </a:pPr>
            <a:r>
              <a:rPr lang="en-GB" sz="1350" b="1">
                <a:latin typeface="Aptos" panose="020B0004020202020204" pitchFamily="34" charset="0"/>
              </a:rPr>
              <a:t>Technical Feasibility</a:t>
            </a:r>
            <a:r>
              <a:rPr lang="en-GB" sz="1350">
                <a:latin typeface="Aptos" panose="020B0004020202020204" pitchFamily="34" charset="0"/>
              </a:rPr>
              <a:t> </a:t>
            </a:r>
            <a:r>
              <a:rPr lang="en-GB" sz="1300">
                <a:latin typeface="Aptos" panose="020B0004020202020204" pitchFamily="34" charset="0"/>
              </a:rPr>
              <a:t>– A single well-validated XGBoost model, backed by published fire-classification research, cuts training complexity and inference cost compared to running two models.</a:t>
            </a:r>
            <a:endParaRPr lang="en-IN" sz="1300">
              <a:latin typeface="Aptos" panose="020B0004020202020204" pitchFamily="34" charset="0"/>
            </a:endParaRPr>
          </a:p>
        </p:txBody>
      </p:sp>
      <p:sp>
        <p:nvSpPr>
          <p:cNvPr id="19" name="TextBox 18">
            <a:extLst>
              <a:ext uri="{FF2B5EF4-FFF2-40B4-BE49-F238E27FC236}">
                <a16:creationId xmlns:a16="http://schemas.microsoft.com/office/drawing/2014/main" id="{C39D9DB2-9040-3475-E001-564256604C6E}"/>
              </a:ext>
            </a:extLst>
          </p:cNvPr>
          <p:cNvSpPr txBox="1"/>
          <p:nvPr/>
        </p:nvSpPr>
        <p:spPr>
          <a:xfrm>
            <a:off x="126390" y="2355490"/>
            <a:ext cx="3824089" cy="1092607"/>
          </a:xfrm>
          <a:prstGeom prst="rect">
            <a:avLst/>
          </a:prstGeom>
          <a:noFill/>
        </p:spPr>
        <p:txBody>
          <a:bodyPr wrap="square" rtlCol="0">
            <a:spAutoFit/>
          </a:bodyPr>
          <a:lstStyle/>
          <a:p>
            <a:pPr marL="285750" indent="-285750">
              <a:buFont typeface="Arial" panose="020B0604020202020204" pitchFamily="34" charset="0"/>
              <a:buChar char="•"/>
            </a:pPr>
            <a:r>
              <a:rPr lang="en-IN" sz="1350" b="1">
                <a:latin typeface="Aptos" panose="020B0004020202020204" pitchFamily="34" charset="0"/>
              </a:rPr>
              <a:t>Data Feasibility</a:t>
            </a:r>
            <a:r>
              <a:rPr lang="en-IN" sz="1350">
                <a:latin typeface="Aptos" panose="020B0004020202020204" pitchFamily="34" charset="0"/>
              </a:rPr>
              <a:t> </a:t>
            </a:r>
            <a:r>
              <a:rPr lang="en-IN" sz="1300">
                <a:latin typeface="Aptos" panose="020B0004020202020204" pitchFamily="34" charset="0"/>
              </a:rPr>
              <a:t>– Freely available INSAT-3D/3DR via MOSDAC, NASA FIRMS thermal archive, plus Bhuvan land cover and OSM/GEM facility data — verified access, large enough for reliable weak-labelling.</a:t>
            </a:r>
          </a:p>
        </p:txBody>
      </p:sp>
      <p:sp>
        <p:nvSpPr>
          <p:cNvPr id="20" name="TextBox 19">
            <a:extLst>
              <a:ext uri="{FF2B5EF4-FFF2-40B4-BE49-F238E27FC236}">
                <a16:creationId xmlns:a16="http://schemas.microsoft.com/office/drawing/2014/main" id="{7E6D2254-557A-C2A2-181F-6B295A800CE9}"/>
              </a:ext>
            </a:extLst>
          </p:cNvPr>
          <p:cNvSpPr txBox="1"/>
          <p:nvPr/>
        </p:nvSpPr>
        <p:spPr>
          <a:xfrm>
            <a:off x="126390" y="3363867"/>
            <a:ext cx="3809758" cy="892552"/>
          </a:xfrm>
          <a:prstGeom prst="rect">
            <a:avLst/>
          </a:prstGeom>
          <a:noFill/>
        </p:spPr>
        <p:txBody>
          <a:bodyPr wrap="square" rtlCol="0">
            <a:spAutoFit/>
          </a:bodyPr>
          <a:lstStyle/>
          <a:p>
            <a:pPr marL="285750" indent="-285750">
              <a:buFont typeface="Arial" panose="020B0604020202020204" pitchFamily="34" charset="0"/>
              <a:buChar char="•"/>
            </a:pPr>
            <a:r>
              <a:rPr lang="en-GB" sz="1350" b="1">
                <a:latin typeface="Aptos" panose="020B0004020202020204" pitchFamily="34" charset="0"/>
              </a:rPr>
              <a:t>Operational Feasibility</a:t>
            </a:r>
            <a:r>
              <a:rPr lang="en-GB" sz="1350">
                <a:latin typeface="Aptos" panose="020B0004020202020204" pitchFamily="34" charset="0"/>
              </a:rPr>
              <a:t> </a:t>
            </a:r>
            <a:r>
              <a:rPr lang="en-GB" sz="1300">
                <a:latin typeface="Aptos" panose="020B0004020202020204" pitchFamily="34" charset="0"/>
              </a:rPr>
              <a:t>– Pipeline from hotspot ingestion to dashboard alert, designed with async optical and FRP layers so a slow fetch never blocks the core alert.</a:t>
            </a:r>
            <a:endParaRPr lang="en-IN" sz="1300">
              <a:latin typeface="Aptos" panose="020B0004020202020204" pitchFamily="34" charset="0"/>
            </a:endParaRPr>
          </a:p>
        </p:txBody>
      </p:sp>
      <p:sp>
        <p:nvSpPr>
          <p:cNvPr id="21" name="TextBox 20">
            <a:extLst>
              <a:ext uri="{FF2B5EF4-FFF2-40B4-BE49-F238E27FC236}">
                <a16:creationId xmlns:a16="http://schemas.microsoft.com/office/drawing/2014/main" id="{2F92C231-0100-921D-91E8-BEFBA14693D6}"/>
              </a:ext>
            </a:extLst>
          </p:cNvPr>
          <p:cNvSpPr txBox="1"/>
          <p:nvPr/>
        </p:nvSpPr>
        <p:spPr>
          <a:xfrm>
            <a:off x="131439" y="5245596"/>
            <a:ext cx="4014064" cy="892552"/>
          </a:xfrm>
          <a:prstGeom prst="rect">
            <a:avLst/>
          </a:prstGeom>
          <a:noFill/>
        </p:spPr>
        <p:txBody>
          <a:bodyPr wrap="square" rtlCol="0">
            <a:spAutoFit/>
          </a:bodyPr>
          <a:lstStyle/>
          <a:p>
            <a:pPr marL="285750" indent="-285750">
              <a:buFont typeface="Arial" panose="020B0604020202020204" pitchFamily="34" charset="0"/>
              <a:buChar char="•"/>
            </a:pPr>
            <a:r>
              <a:rPr lang="en-GB" sz="1350" b="1">
                <a:latin typeface="Aptos" panose="020B0004020202020204" pitchFamily="34" charset="0"/>
              </a:rPr>
              <a:t>Regulatory &amp; Access Feasibility</a:t>
            </a:r>
            <a:r>
              <a:rPr lang="en-GB" sz="1350">
                <a:latin typeface="Aptos" panose="020B0004020202020204" pitchFamily="34" charset="0"/>
              </a:rPr>
              <a:t> </a:t>
            </a:r>
            <a:r>
              <a:rPr lang="en-GB" sz="1300">
                <a:latin typeface="Aptos" panose="020B0004020202020204" pitchFamily="34" charset="0"/>
              </a:rPr>
              <a:t>– We already secured working MOSDAC and Bhuvan logins mid-development, proving real data access instead of just assuming it.</a:t>
            </a:r>
            <a:endParaRPr lang="en-IN" sz="1300">
              <a:latin typeface="Aptos" panose="020B0004020202020204" pitchFamily="34" charset="0"/>
            </a:endParaRPr>
          </a:p>
        </p:txBody>
      </p:sp>
      <p:sp>
        <p:nvSpPr>
          <p:cNvPr id="23" name="TextBox 22">
            <a:extLst>
              <a:ext uri="{FF2B5EF4-FFF2-40B4-BE49-F238E27FC236}">
                <a16:creationId xmlns:a16="http://schemas.microsoft.com/office/drawing/2014/main" id="{5C69F8BB-7939-0E6F-22BD-A3529CAC584D}"/>
              </a:ext>
            </a:extLst>
          </p:cNvPr>
          <p:cNvSpPr txBox="1"/>
          <p:nvPr/>
        </p:nvSpPr>
        <p:spPr>
          <a:xfrm>
            <a:off x="4177018" y="1401396"/>
            <a:ext cx="3824089" cy="1292662"/>
          </a:xfrm>
          <a:prstGeom prst="rect">
            <a:avLst/>
          </a:prstGeom>
          <a:noFill/>
        </p:spPr>
        <p:txBody>
          <a:bodyPr wrap="square" rtlCol="0">
            <a:spAutoFit/>
          </a:bodyPr>
          <a:lstStyle/>
          <a:p>
            <a:pPr marL="285750" indent="-285750">
              <a:buFont typeface="Arial" panose="020B0604020202020204" pitchFamily="34" charset="0"/>
              <a:buChar char="•"/>
            </a:pPr>
            <a:r>
              <a:rPr lang="en-GB" sz="1350" b="1">
                <a:latin typeface="Aptos" panose="020B0004020202020204" pitchFamily="34" charset="0"/>
              </a:rPr>
              <a:t>Data dependencies</a:t>
            </a:r>
            <a:r>
              <a:rPr lang="en-GB" sz="1350">
                <a:latin typeface="Aptos" panose="020B0004020202020204" pitchFamily="34" charset="0"/>
              </a:rPr>
              <a:t> </a:t>
            </a:r>
            <a:r>
              <a:rPr lang="en-GB" sz="1300">
                <a:latin typeface="Aptos" panose="020B0004020202020204" pitchFamily="34" charset="0"/>
              </a:rPr>
              <a:t>– The system leans on six external sources (INSAT/MOSDAC, FIRMS, Bhuvan, Bhoonidhi, VIIRS Nightfire, Copernicus), each with its own access rules and uptime — a coordination risk outside the team's control.</a:t>
            </a:r>
            <a:endParaRPr lang="en-GB" sz="1300">
              <a:effectLst/>
              <a:latin typeface="Aptos" panose="020B0004020202020204" pitchFamily="34" charset="0"/>
            </a:endParaRPr>
          </a:p>
        </p:txBody>
      </p:sp>
      <p:sp>
        <p:nvSpPr>
          <p:cNvPr id="24" name="TextBox 23">
            <a:extLst>
              <a:ext uri="{FF2B5EF4-FFF2-40B4-BE49-F238E27FC236}">
                <a16:creationId xmlns:a16="http://schemas.microsoft.com/office/drawing/2014/main" id="{800D1AE0-4486-9084-E84D-541B4FA6F44A}"/>
              </a:ext>
            </a:extLst>
          </p:cNvPr>
          <p:cNvSpPr txBox="1"/>
          <p:nvPr/>
        </p:nvSpPr>
        <p:spPr>
          <a:xfrm>
            <a:off x="4177018" y="2638456"/>
            <a:ext cx="3787929" cy="892552"/>
          </a:xfrm>
          <a:prstGeom prst="rect">
            <a:avLst/>
          </a:prstGeom>
          <a:noFill/>
        </p:spPr>
        <p:txBody>
          <a:bodyPr wrap="square" rtlCol="0">
            <a:spAutoFit/>
          </a:bodyPr>
          <a:lstStyle/>
          <a:p>
            <a:pPr marL="285750" indent="-285750">
              <a:buFont typeface="Arial" panose="020B0604020202020204" pitchFamily="34" charset="0"/>
              <a:buChar char="•"/>
            </a:pPr>
            <a:r>
              <a:rPr lang="en-GB" sz="1350" b="1">
                <a:latin typeface="Aptos" panose="020B0004020202020204" pitchFamily="34" charset="0"/>
              </a:rPr>
              <a:t>Unlabelled training data</a:t>
            </a:r>
            <a:r>
              <a:rPr lang="en-GB" sz="1350">
                <a:latin typeface="Aptos" panose="020B0004020202020204" pitchFamily="34" charset="0"/>
              </a:rPr>
              <a:t> </a:t>
            </a:r>
            <a:r>
              <a:rPr lang="en-GB" sz="1300">
                <a:latin typeface="Aptos" panose="020B0004020202020204" pitchFamily="34" charset="0"/>
              </a:rPr>
              <a:t>– No verified dataset exists linking hotspots to actual fire causes; building one requires significant manual cross-referencing effort.</a:t>
            </a:r>
            <a:endParaRPr lang="en-IN" sz="1300">
              <a:latin typeface="Aptos" panose="020B0004020202020204" pitchFamily="34" charset="0"/>
            </a:endParaRPr>
          </a:p>
        </p:txBody>
      </p:sp>
      <p:sp>
        <p:nvSpPr>
          <p:cNvPr id="25" name="TextBox 24">
            <a:extLst>
              <a:ext uri="{FF2B5EF4-FFF2-40B4-BE49-F238E27FC236}">
                <a16:creationId xmlns:a16="http://schemas.microsoft.com/office/drawing/2014/main" id="{79DE7A3C-24DD-2606-E72A-6338E15D7F02}"/>
              </a:ext>
            </a:extLst>
          </p:cNvPr>
          <p:cNvSpPr txBox="1"/>
          <p:nvPr/>
        </p:nvSpPr>
        <p:spPr>
          <a:xfrm>
            <a:off x="4172797" y="3480448"/>
            <a:ext cx="3832529" cy="892552"/>
          </a:xfrm>
          <a:prstGeom prst="rect">
            <a:avLst/>
          </a:prstGeom>
          <a:noFill/>
        </p:spPr>
        <p:txBody>
          <a:bodyPr wrap="square" rtlCol="0">
            <a:spAutoFit/>
          </a:bodyPr>
          <a:lstStyle/>
          <a:p>
            <a:pPr marL="285750" lvl="0" indent="-285750" defTabSz="914400" eaLnBrk="0" hangingPunct="0">
              <a:buFont typeface="Arial" panose="020B0604020202020204" pitchFamily="34" charset="0"/>
              <a:buChar char="•"/>
            </a:pPr>
            <a:r>
              <a:rPr lang="en-US" altLang="en-US" sz="1350" b="1">
                <a:latin typeface="Aptos" panose="020B0004020202020204" pitchFamily="34" charset="0"/>
              </a:rPr>
              <a:t>Satellite revisit gaps</a:t>
            </a:r>
            <a:r>
              <a:rPr lang="en-US" altLang="en-US" sz="1350">
                <a:latin typeface="Aptos" panose="020B0004020202020204" pitchFamily="34" charset="0"/>
              </a:rPr>
              <a:t> </a:t>
            </a:r>
            <a:r>
              <a:rPr lang="en-US" altLang="en-US" sz="1300">
                <a:latin typeface="Aptos" panose="020B0004020202020204" pitchFamily="34" charset="0"/>
              </a:rPr>
              <a:t>– Polar satellites (VIIRS/MODIS) only pass every ~3 hours, creating a real-world confirmation delay before an alert can be fully trusted. </a:t>
            </a:r>
          </a:p>
        </p:txBody>
      </p:sp>
      <p:sp>
        <p:nvSpPr>
          <p:cNvPr id="27" name="TextBox 26">
            <a:extLst>
              <a:ext uri="{FF2B5EF4-FFF2-40B4-BE49-F238E27FC236}">
                <a16:creationId xmlns:a16="http://schemas.microsoft.com/office/drawing/2014/main" id="{F3159FC0-5196-7715-121E-DC9EF8015C6D}"/>
              </a:ext>
            </a:extLst>
          </p:cNvPr>
          <p:cNvSpPr txBox="1"/>
          <p:nvPr/>
        </p:nvSpPr>
        <p:spPr>
          <a:xfrm>
            <a:off x="8189767" y="1435391"/>
            <a:ext cx="3959126" cy="892552"/>
          </a:xfrm>
          <a:prstGeom prst="rect">
            <a:avLst/>
          </a:prstGeom>
          <a:noFill/>
        </p:spPr>
        <p:txBody>
          <a:bodyPr wrap="square" rtlCol="0">
            <a:spAutoFit/>
          </a:bodyPr>
          <a:lstStyle/>
          <a:p>
            <a:pPr marL="285750" indent="-285750">
              <a:buFont typeface="Arial" panose="020B0604020202020204" pitchFamily="34" charset="0"/>
              <a:buChar char="•"/>
            </a:pPr>
            <a:r>
              <a:rPr lang="en-GB" sz="1350" b="1">
                <a:latin typeface="Aptos" panose="020B0004020202020204" pitchFamily="34" charset="0"/>
              </a:rPr>
              <a:t>Handling API Reliability</a:t>
            </a:r>
            <a:r>
              <a:rPr lang="en-GB" sz="1350">
                <a:latin typeface="Aptos" panose="020B0004020202020204" pitchFamily="34" charset="0"/>
              </a:rPr>
              <a:t> </a:t>
            </a:r>
            <a:r>
              <a:rPr lang="en-GB" sz="1300">
                <a:latin typeface="Aptos" panose="020B0004020202020204" pitchFamily="34" charset="0"/>
              </a:rPr>
              <a:t>– Every external call gets retry and caching built in, and we're starting all six data-access requests early so approval delays don't hold up development.</a:t>
            </a:r>
          </a:p>
        </p:txBody>
      </p:sp>
      <p:sp>
        <p:nvSpPr>
          <p:cNvPr id="28" name="TextBox 27">
            <a:extLst>
              <a:ext uri="{FF2B5EF4-FFF2-40B4-BE49-F238E27FC236}">
                <a16:creationId xmlns:a16="http://schemas.microsoft.com/office/drawing/2014/main" id="{B78008CB-8361-28D0-400D-B8ABD5DD8519}"/>
              </a:ext>
            </a:extLst>
          </p:cNvPr>
          <p:cNvSpPr txBox="1"/>
          <p:nvPr/>
        </p:nvSpPr>
        <p:spPr>
          <a:xfrm>
            <a:off x="8198283" y="2318145"/>
            <a:ext cx="3884053" cy="1092607"/>
          </a:xfrm>
          <a:prstGeom prst="rect">
            <a:avLst/>
          </a:prstGeom>
          <a:noFill/>
        </p:spPr>
        <p:txBody>
          <a:bodyPr wrap="square" rtlCol="0">
            <a:spAutoFit/>
          </a:bodyPr>
          <a:lstStyle/>
          <a:p>
            <a:pPr marL="285750" indent="-285750">
              <a:buFont typeface="Arial" panose="020B0604020202020204" pitchFamily="34" charset="0"/>
              <a:buChar char="•"/>
            </a:pPr>
            <a:r>
              <a:rPr lang="en-GB" sz="1350" b="1">
                <a:latin typeface="Aptos" panose="020B0004020202020204" pitchFamily="34" charset="0"/>
              </a:rPr>
              <a:t>Building Training Data Carefully</a:t>
            </a:r>
            <a:r>
              <a:rPr lang="en-GB" sz="1350">
                <a:latin typeface="Aptos" panose="020B0004020202020204" pitchFamily="34" charset="0"/>
              </a:rPr>
              <a:t> </a:t>
            </a:r>
            <a:r>
              <a:rPr lang="en-GB" sz="1300">
                <a:latin typeface="Aptos" panose="020B0004020202020204" pitchFamily="34" charset="0"/>
              </a:rPr>
              <a:t>– We're putting together a labelled dataset from FIRMS history, flare records, mining zones, and facility matches, then double-checking it against a small set of real incidents.</a:t>
            </a:r>
          </a:p>
        </p:txBody>
      </p:sp>
      <p:sp>
        <p:nvSpPr>
          <p:cNvPr id="29" name="TextBox 28">
            <a:extLst>
              <a:ext uri="{FF2B5EF4-FFF2-40B4-BE49-F238E27FC236}">
                <a16:creationId xmlns:a16="http://schemas.microsoft.com/office/drawing/2014/main" id="{66CE2FE2-0A3C-5F74-DE8F-F2187EC074A3}"/>
              </a:ext>
            </a:extLst>
          </p:cNvPr>
          <p:cNvSpPr txBox="1"/>
          <p:nvPr/>
        </p:nvSpPr>
        <p:spPr>
          <a:xfrm>
            <a:off x="8207072" y="3433557"/>
            <a:ext cx="3818371" cy="892552"/>
          </a:xfrm>
          <a:prstGeom prst="rect">
            <a:avLst/>
          </a:prstGeom>
          <a:noFill/>
        </p:spPr>
        <p:txBody>
          <a:bodyPr wrap="square" rtlCol="0">
            <a:spAutoFit/>
          </a:bodyPr>
          <a:lstStyle/>
          <a:p>
            <a:pPr marL="285750" indent="-285750">
              <a:buFont typeface="Arial" panose="020B0604020202020204" pitchFamily="34" charset="0"/>
              <a:buChar char="•"/>
            </a:pPr>
            <a:r>
              <a:rPr lang="en-GB" sz="1350" b="1">
                <a:latin typeface="Aptos" panose="020B0004020202020204" pitchFamily="34" charset="0"/>
              </a:rPr>
              <a:t>Balancing Speed and Accuracy</a:t>
            </a:r>
            <a:r>
              <a:rPr lang="en-GB" sz="1350">
                <a:latin typeface="Aptos" panose="020B0004020202020204" pitchFamily="34" charset="0"/>
              </a:rPr>
              <a:t> </a:t>
            </a:r>
            <a:r>
              <a:rPr lang="en-GB" sz="1300">
                <a:latin typeface="Aptos" panose="020B0004020202020204" pitchFamily="34" charset="0"/>
              </a:rPr>
              <a:t>– INSAT's quick 30-minute updates drive the first alert, while VIIRS confirmation happens in the background instead of slowing things down.</a:t>
            </a:r>
          </a:p>
        </p:txBody>
      </p:sp>
      <p:sp>
        <p:nvSpPr>
          <p:cNvPr id="2" name="TextBox 1">
            <a:extLst>
              <a:ext uri="{FF2B5EF4-FFF2-40B4-BE49-F238E27FC236}">
                <a16:creationId xmlns:a16="http://schemas.microsoft.com/office/drawing/2014/main" id="{020888AC-081D-ADA6-149C-849DDE016C6E}"/>
              </a:ext>
            </a:extLst>
          </p:cNvPr>
          <p:cNvSpPr txBox="1"/>
          <p:nvPr/>
        </p:nvSpPr>
        <p:spPr>
          <a:xfrm>
            <a:off x="4149764" y="4326684"/>
            <a:ext cx="3608687" cy="892552"/>
          </a:xfrm>
          <a:prstGeom prst="rect">
            <a:avLst/>
          </a:prstGeom>
          <a:noFill/>
        </p:spPr>
        <p:txBody>
          <a:bodyPr wrap="square" rtlCol="0">
            <a:spAutoFit/>
          </a:bodyPr>
          <a:lstStyle/>
          <a:p>
            <a:pPr marL="285750" lvl="0" indent="-285750" defTabSz="914400" eaLnBrk="0" hangingPunct="0">
              <a:buFont typeface="Arial" panose="020B0604020202020204" pitchFamily="34" charset="0"/>
              <a:buChar char="•"/>
            </a:pPr>
            <a:r>
              <a:rPr lang="en-US" altLang="en-US" sz="1350" b="1">
                <a:latin typeface="Aptos" panose="020B0004020202020204" pitchFamily="34" charset="0"/>
              </a:rPr>
              <a:t>Facility registry accuracy</a:t>
            </a:r>
            <a:r>
              <a:rPr lang="en-US" altLang="en-US" sz="1350">
                <a:latin typeface="Aptos" panose="020B0004020202020204" pitchFamily="34" charset="0"/>
              </a:rPr>
              <a:t> </a:t>
            </a:r>
            <a:r>
              <a:rPr lang="en-US" altLang="en-US" sz="1300">
                <a:latin typeface="Aptos" panose="020B0004020202020204" pitchFamily="34" charset="0"/>
              </a:rPr>
              <a:t>– With CPCB access blocked, reliance on OSM/GEM data risks misclassifying unregistered or mismapped industrial sites. </a:t>
            </a:r>
          </a:p>
        </p:txBody>
      </p:sp>
      <p:sp>
        <p:nvSpPr>
          <p:cNvPr id="3" name="TextBox 2">
            <a:extLst>
              <a:ext uri="{FF2B5EF4-FFF2-40B4-BE49-F238E27FC236}">
                <a16:creationId xmlns:a16="http://schemas.microsoft.com/office/drawing/2014/main" id="{A7E0E626-E41E-A70B-22D6-2935C55316DE}"/>
              </a:ext>
            </a:extLst>
          </p:cNvPr>
          <p:cNvSpPr txBox="1"/>
          <p:nvPr/>
        </p:nvSpPr>
        <p:spPr>
          <a:xfrm>
            <a:off x="8207072" y="4381072"/>
            <a:ext cx="3795837" cy="892552"/>
          </a:xfrm>
          <a:prstGeom prst="rect">
            <a:avLst/>
          </a:prstGeom>
          <a:noFill/>
        </p:spPr>
        <p:txBody>
          <a:bodyPr wrap="square" rtlCol="0">
            <a:spAutoFit/>
          </a:bodyPr>
          <a:lstStyle/>
          <a:p>
            <a:pPr marL="285750" indent="-285750">
              <a:buFont typeface="Arial" panose="020B0604020202020204" pitchFamily="34" charset="0"/>
              <a:buChar char="•"/>
            </a:pPr>
            <a:r>
              <a:rPr lang="en-GB" sz="1350" b="1">
                <a:latin typeface="Aptos" panose="020B0004020202020204" pitchFamily="34" charset="0"/>
              </a:rPr>
              <a:t>Cleaning Up Facility Data</a:t>
            </a:r>
            <a:r>
              <a:rPr lang="en-GB" sz="1350">
                <a:latin typeface="Aptos" panose="020B0004020202020204" pitchFamily="34" charset="0"/>
              </a:rPr>
              <a:t> </a:t>
            </a:r>
            <a:r>
              <a:rPr lang="en-GB" sz="1300">
                <a:latin typeface="Aptos" panose="020B0004020202020204" pitchFamily="34" charset="0"/>
              </a:rPr>
              <a:t>– We're manually reviewing and fixing OSM/GEM entries against known sites, while still following up on CPCB access as a backup option.</a:t>
            </a:r>
          </a:p>
        </p:txBody>
      </p:sp>
      <p:sp>
        <p:nvSpPr>
          <p:cNvPr id="4" name="TextBox 3">
            <a:extLst>
              <a:ext uri="{FF2B5EF4-FFF2-40B4-BE49-F238E27FC236}">
                <a16:creationId xmlns:a16="http://schemas.microsoft.com/office/drawing/2014/main" id="{5003311C-01D4-5F30-D510-B5DA7022609D}"/>
              </a:ext>
            </a:extLst>
          </p:cNvPr>
          <p:cNvSpPr txBox="1"/>
          <p:nvPr/>
        </p:nvSpPr>
        <p:spPr>
          <a:xfrm>
            <a:off x="4039926" y="5903495"/>
            <a:ext cx="184731" cy="369332"/>
          </a:xfrm>
          <a:prstGeom prst="rect">
            <a:avLst/>
          </a:prstGeom>
          <a:noFill/>
        </p:spPr>
        <p:txBody>
          <a:bodyPr wrap="square" rtlCol="0">
            <a:spAutoFit/>
          </a:bodyPr>
          <a:lstStyle/>
          <a:p>
            <a:endParaRPr lang="en-IN"/>
          </a:p>
        </p:txBody>
      </p:sp>
      <p:sp>
        <p:nvSpPr>
          <p:cNvPr id="5" name="TextBox 4">
            <a:extLst>
              <a:ext uri="{FF2B5EF4-FFF2-40B4-BE49-F238E27FC236}">
                <a16:creationId xmlns:a16="http://schemas.microsoft.com/office/drawing/2014/main" id="{083158F9-C59A-35F0-AED1-88DA8BD2F95A}"/>
              </a:ext>
            </a:extLst>
          </p:cNvPr>
          <p:cNvSpPr txBox="1"/>
          <p:nvPr/>
        </p:nvSpPr>
        <p:spPr>
          <a:xfrm>
            <a:off x="139395" y="4193722"/>
            <a:ext cx="3868098" cy="1092607"/>
          </a:xfrm>
          <a:prstGeom prst="rect">
            <a:avLst/>
          </a:prstGeom>
          <a:noFill/>
        </p:spPr>
        <p:txBody>
          <a:bodyPr wrap="square" rtlCol="0">
            <a:spAutoFit/>
          </a:bodyPr>
          <a:lstStyle/>
          <a:p>
            <a:pPr marL="285750" indent="-285750">
              <a:buFont typeface="Arial" panose="020B0604020202020204" pitchFamily="34" charset="0"/>
              <a:buChar char="•"/>
            </a:pPr>
            <a:r>
              <a:rPr lang="en-GB" sz="1350" b="1">
                <a:latin typeface="Aptos" panose="020B0004020202020204" pitchFamily="34" charset="0"/>
              </a:rPr>
              <a:t>Economic Feasibility</a:t>
            </a:r>
            <a:r>
              <a:rPr lang="en-GB" sz="1350">
                <a:latin typeface="Aptos" panose="020B0004020202020204" pitchFamily="34" charset="0"/>
              </a:rPr>
              <a:t> </a:t>
            </a:r>
            <a:r>
              <a:rPr lang="en-GB" sz="1300">
                <a:latin typeface="Aptos" panose="020B0004020202020204" pitchFamily="34" charset="0"/>
              </a:rPr>
              <a:t>– Low infrastructure cost since it reuses free Indian and open satellite data, high disaster-response value, reduces damage and delayed response to industrial fires.</a:t>
            </a:r>
            <a:endParaRPr lang="en-IN" sz="1300">
              <a:latin typeface="Aptos" panose="020B0004020202020204" pitchFamily="34" charset="0"/>
            </a:endParaRPr>
          </a:p>
        </p:txBody>
      </p:sp>
      <p:sp>
        <p:nvSpPr>
          <p:cNvPr id="37" name="TextBox 36">
            <a:extLst>
              <a:ext uri="{FF2B5EF4-FFF2-40B4-BE49-F238E27FC236}">
                <a16:creationId xmlns:a16="http://schemas.microsoft.com/office/drawing/2014/main" id="{DC30742F-7AC9-CB70-9051-03EEBB350702}"/>
              </a:ext>
            </a:extLst>
          </p:cNvPr>
          <p:cNvSpPr txBox="1"/>
          <p:nvPr/>
        </p:nvSpPr>
        <p:spPr>
          <a:xfrm>
            <a:off x="4149764" y="5187257"/>
            <a:ext cx="3946865" cy="1169551"/>
          </a:xfrm>
          <a:prstGeom prst="rect">
            <a:avLst/>
          </a:prstGeom>
          <a:noFill/>
        </p:spPr>
        <p:txBody>
          <a:bodyPr wrap="square" rtlCol="0">
            <a:spAutoFit/>
          </a:bodyPr>
          <a:lstStyle/>
          <a:p>
            <a:pPr marL="285750" indent="-285750">
              <a:buFont typeface="Arial" panose="020B0604020202020204" pitchFamily="34" charset="0"/>
              <a:buChar char="•"/>
            </a:pPr>
            <a:r>
              <a:rPr lang="en-GB" sz="1350" b="1">
                <a:latin typeface="Aptos" panose="020B0004020202020204" pitchFamily="34" charset="0"/>
              </a:rPr>
              <a:t>INSAT-specific FRP calibration</a:t>
            </a:r>
            <a:r>
              <a:rPr lang="en-GB" sz="1350">
                <a:latin typeface="Aptos" panose="020B0004020202020204" pitchFamily="34" charset="0"/>
              </a:rPr>
              <a:t> </a:t>
            </a:r>
            <a:r>
              <a:rPr lang="en-GB" sz="1300">
                <a:latin typeface="Aptos" panose="020B0004020202020204" pitchFamily="34" charset="0"/>
              </a:rPr>
              <a:t>– The fire-intensity formula uses an uncalibrated coefficient, so reported megawatt values remain estimates until cross-validated against VIIRS.</a:t>
            </a:r>
          </a:p>
          <a:p>
            <a:endParaRPr lang="en-IN"/>
          </a:p>
        </p:txBody>
      </p:sp>
      <p:sp>
        <p:nvSpPr>
          <p:cNvPr id="45" name="TextBox 44">
            <a:extLst>
              <a:ext uri="{FF2B5EF4-FFF2-40B4-BE49-F238E27FC236}">
                <a16:creationId xmlns:a16="http://schemas.microsoft.com/office/drawing/2014/main" id="{72D28941-E631-6020-6945-505933724E93}"/>
              </a:ext>
            </a:extLst>
          </p:cNvPr>
          <p:cNvSpPr txBox="1"/>
          <p:nvPr/>
        </p:nvSpPr>
        <p:spPr>
          <a:xfrm>
            <a:off x="8189767" y="5261463"/>
            <a:ext cx="3745296" cy="1169551"/>
          </a:xfrm>
          <a:prstGeom prst="rect">
            <a:avLst/>
          </a:prstGeom>
          <a:noFill/>
        </p:spPr>
        <p:txBody>
          <a:bodyPr wrap="square" rtlCol="0">
            <a:spAutoFit/>
          </a:bodyPr>
          <a:lstStyle/>
          <a:p>
            <a:pPr marL="285750" indent="-285750">
              <a:buFont typeface="Arial" panose="020B0604020202020204" pitchFamily="34" charset="0"/>
              <a:buChar char="•"/>
            </a:pPr>
            <a:r>
              <a:rPr lang="en-GB" sz="1350" b="1">
                <a:latin typeface="Aptos" panose="020B0004020202020204" pitchFamily="34" charset="0"/>
              </a:rPr>
              <a:t>Being Honest About FRP Numbers</a:t>
            </a:r>
            <a:r>
              <a:rPr lang="en-GB" sz="1350">
                <a:latin typeface="Aptos" panose="020B0004020202020204" pitchFamily="34" charset="0"/>
              </a:rPr>
              <a:t> </a:t>
            </a:r>
            <a:r>
              <a:rPr lang="en-GB" sz="1300">
                <a:latin typeface="Aptos" panose="020B0004020202020204" pitchFamily="34" charset="0"/>
              </a:rPr>
              <a:t>– Fire intensity is labeled as an estimate, and we keep comparing it against VIIRS readings over time to make it more accurate.</a:t>
            </a:r>
          </a:p>
          <a:p>
            <a:endParaRPr lang="en-IN"/>
          </a:p>
        </p:txBody>
      </p:sp>
      <p:sp>
        <p:nvSpPr>
          <p:cNvPr id="51" name="Rectangle 25">
            <a:extLst>
              <a:ext uri="{FF2B5EF4-FFF2-40B4-BE49-F238E27FC236}">
                <a16:creationId xmlns:a16="http://schemas.microsoft.com/office/drawing/2014/main" id="{947A2887-A0CE-3F63-B079-A46ECA479F64}"/>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7FB66-B8F7-3D42-8F0F-53E98453F24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897E637-0BCE-6B17-F06F-4169EDC48ADA}"/>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a:extLst>
              <a:ext uri="{FF2B5EF4-FFF2-40B4-BE49-F238E27FC236}">
                <a16:creationId xmlns:a16="http://schemas.microsoft.com/office/drawing/2014/main" id="{2537AB85-074B-227D-AA57-2D4EAC6A646C}"/>
              </a:ext>
            </a:extLst>
          </p:cNvPr>
          <p:cNvSpPr>
            <a:spLocks noGrp="1"/>
          </p:cNvSpPr>
          <p:nvPr>
            <p:ph type="title"/>
          </p:nvPr>
        </p:nvSpPr>
        <p:spPr/>
        <p:txBody>
          <a:bodyPr/>
          <a:lstStyle/>
          <a:p>
            <a:pPr eaLnBrk="1" hangingPunct="1"/>
            <a:r>
              <a:rPr lang="en-US" sz="3000" b="1" dirty="0">
                <a:ea typeface="ＭＳ Ｐゴシック" pitchFamily="1" charset="-128"/>
                <a:cs typeface="Times New Roman" panose="02020603050405020304" pitchFamily="18" charset="0"/>
              </a:rPr>
              <a:t>IMPACT AND BENEFITS</a:t>
            </a:r>
          </a:p>
        </p:txBody>
      </p:sp>
      <p:sp>
        <p:nvSpPr>
          <p:cNvPr id="6" name="Slide Number Placeholder 5">
            <a:extLst>
              <a:ext uri="{FF2B5EF4-FFF2-40B4-BE49-F238E27FC236}">
                <a16:creationId xmlns:a16="http://schemas.microsoft.com/office/drawing/2014/main" id="{F14D0229-601B-DC21-E4FF-EBE4310E5C72}"/>
              </a:ext>
            </a:extLst>
          </p:cNvPr>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a:extLst>
              <a:ext uri="{FF2B5EF4-FFF2-40B4-BE49-F238E27FC236}">
                <a16:creationId xmlns:a16="http://schemas.microsoft.com/office/drawing/2014/main" id="{DD57D352-612D-F80A-7DC1-EA076E844000}"/>
              </a:ext>
            </a:extLst>
          </p:cNvPr>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4" name="Rectangle: Rounded Corners 3">
            <a:extLst>
              <a:ext uri="{FF2B5EF4-FFF2-40B4-BE49-F238E27FC236}">
                <a16:creationId xmlns:a16="http://schemas.microsoft.com/office/drawing/2014/main" id="{2407AA3F-1EB0-7BA4-39B1-66504ABF9789}"/>
              </a:ext>
            </a:extLst>
          </p:cNvPr>
          <p:cNvSpPr/>
          <p:nvPr/>
        </p:nvSpPr>
        <p:spPr>
          <a:xfrm>
            <a:off x="127612" y="1057747"/>
            <a:ext cx="6830170" cy="5066966"/>
          </a:xfrm>
          <a:prstGeom prst="roundRect">
            <a:avLst>
              <a:gd name="adj" fmla="val 4113"/>
            </a:avLst>
          </a:prstGeom>
          <a:solidFill>
            <a:schemeClr val="bg1"/>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AEA2E33E-3784-4E2D-C925-32FA7D1DD288}"/>
              </a:ext>
            </a:extLst>
          </p:cNvPr>
          <p:cNvSpPr/>
          <p:nvPr/>
        </p:nvSpPr>
        <p:spPr>
          <a:xfrm>
            <a:off x="7079917" y="1061512"/>
            <a:ext cx="4866198" cy="5063202"/>
          </a:xfrm>
          <a:prstGeom prst="roundRect">
            <a:avLst>
              <a:gd name="adj" fmla="val 2453"/>
            </a:avLst>
          </a:prstGeom>
          <a:solidFill>
            <a:schemeClr val="bg1"/>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035F461-3999-EB24-48D4-773EC6C9E4CC}"/>
              </a:ext>
            </a:extLst>
          </p:cNvPr>
          <p:cNvSpPr txBox="1"/>
          <p:nvPr/>
        </p:nvSpPr>
        <p:spPr>
          <a:xfrm>
            <a:off x="245885" y="1064343"/>
            <a:ext cx="2821542" cy="323165"/>
          </a:xfrm>
          <a:prstGeom prst="rect">
            <a:avLst/>
          </a:prstGeom>
          <a:noFill/>
        </p:spPr>
        <p:txBody>
          <a:bodyPr wrap="none" rtlCol="0">
            <a:spAutoFit/>
          </a:bodyPr>
          <a:lstStyle/>
          <a:p>
            <a:r>
              <a:rPr lang="en-GB" sz="1500" b="1" u="sng">
                <a:latin typeface="Aptos" panose="020B0004020202020204" pitchFamily="34" charset="0"/>
              </a:rPr>
              <a:t>Impact on the Target Audience</a:t>
            </a:r>
            <a:endParaRPr lang="en-IN" sz="1500" b="1" u="sng">
              <a:latin typeface="Aptos" panose="020B0004020202020204" pitchFamily="34" charset="0"/>
            </a:endParaRPr>
          </a:p>
        </p:txBody>
      </p:sp>
      <p:sp>
        <p:nvSpPr>
          <p:cNvPr id="8" name="TextBox 7">
            <a:extLst>
              <a:ext uri="{FF2B5EF4-FFF2-40B4-BE49-F238E27FC236}">
                <a16:creationId xmlns:a16="http://schemas.microsoft.com/office/drawing/2014/main" id="{A4CADF76-5DF9-B2EE-8471-3CE7D8DAFD9D}"/>
              </a:ext>
            </a:extLst>
          </p:cNvPr>
          <p:cNvSpPr txBox="1"/>
          <p:nvPr/>
        </p:nvSpPr>
        <p:spPr>
          <a:xfrm>
            <a:off x="7103069" y="1079089"/>
            <a:ext cx="2226635" cy="323165"/>
          </a:xfrm>
          <a:prstGeom prst="rect">
            <a:avLst/>
          </a:prstGeom>
          <a:noFill/>
        </p:spPr>
        <p:txBody>
          <a:bodyPr wrap="none" rtlCol="0">
            <a:spAutoFit/>
          </a:bodyPr>
          <a:lstStyle/>
          <a:p>
            <a:r>
              <a:rPr lang="en-IN" sz="1500" b="1" u="sng">
                <a:latin typeface="Aptos" panose="020B0004020202020204" pitchFamily="34" charset="0"/>
              </a:rPr>
              <a:t>Benefits of the Solution</a:t>
            </a:r>
          </a:p>
        </p:txBody>
      </p:sp>
      <p:sp>
        <p:nvSpPr>
          <p:cNvPr id="9" name="TextBox 8">
            <a:extLst>
              <a:ext uri="{FF2B5EF4-FFF2-40B4-BE49-F238E27FC236}">
                <a16:creationId xmlns:a16="http://schemas.microsoft.com/office/drawing/2014/main" id="{F2B197AE-A455-1410-8DEB-29B1686BBA31}"/>
              </a:ext>
            </a:extLst>
          </p:cNvPr>
          <p:cNvSpPr txBox="1"/>
          <p:nvPr/>
        </p:nvSpPr>
        <p:spPr>
          <a:xfrm>
            <a:off x="222788" y="1985561"/>
            <a:ext cx="6709650" cy="738664"/>
          </a:xfrm>
          <a:prstGeom prst="rect">
            <a:avLst/>
          </a:prstGeom>
          <a:noFill/>
        </p:spPr>
        <p:txBody>
          <a:bodyPr wrap="square" rtlCol="0">
            <a:spAutoFit/>
          </a:bodyPr>
          <a:lstStyle/>
          <a:p>
            <a:pPr marL="285750" lvl="0" indent="-285750" defTabSz="914400" eaLnBrk="0" hangingPunct="0">
              <a:buFont typeface="Arial" panose="020B0604020202020204" pitchFamily="34" charset="0"/>
              <a:buChar char="•"/>
            </a:pPr>
            <a:r>
              <a:rPr lang="en-US" altLang="en-US" sz="1400" b="1">
                <a:latin typeface="Aptos" panose="020B0004020202020204" pitchFamily="34" charset="0"/>
              </a:rPr>
              <a:t>Disaster response teams</a:t>
            </a:r>
            <a:r>
              <a:rPr lang="en-US" altLang="en-US" sz="1400">
                <a:latin typeface="Aptos" panose="020B0004020202020204" pitchFamily="34" charset="0"/>
              </a:rPr>
              <a:t> receive the next alert already carrying location, fire intensity, and a plain-language reason, cutting the time spent figuring out what's happening. </a:t>
            </a:r>
          </a:p>
        </p:txBody>
      </p:sp>
      <p:sp>
        <p:nvSpPr>
          <p:cNvPr id="11" name="TextBox 10">
            <a:extLst>
              <a:ext uri="{FF2B5EF4-FFF2-40B4-BE49-F238E27FC236}">
                <a16:creationId xmlns:a16="http://schemas.microsoft.com/office/drawing/2014/main" id="{82F21C81-5FD9-EC0C-7953-E28008160BC7}"/>
              </a:ext>
            </a:extLst>
          </p:cNvPr>
          <p:cNvSpPr txBox="1"/>
          <p:nvPr/>
        </p:nvSpPr>
        <p:spPr>
          <a:xfrm>
            <a:off x="241077" y="1422804"/>
            <a:ext cx="6551779" cy="523220"/>
          </a:xfrm>
          <a:prstGeom prst="rect">
            <a:avLst/>
          </a:prstGeom>
          <a:noFill/>
        </p:spPr>
        <p:txBody>
          <a:bodyPr wrap="square" rtlCol="0">
            <a:spAutoFit/>
          </a:bodyPr>
          <a:lstStyle/>
          <a:p>
            <a:pPr marL="285750" indent="-285750">
              <a:buFont typeface="Arial" panose="020B0604020202020204" pitchFamily="34" charset="0"/>
              <a:buChar char="•"/>
            </a:pPr>
            <a:r>
              <a:rPr lang="en-GB" sz="1400" b="1">
                <a:latin typeface="Aptos" panose="020B0004020202020204" pitchFamily="34" charset="0"/>
              </a:rPr>
              <a:t>Facility operators</a:t>
            </a:r>
            <a:r>
              <a:rPr lang="en-GB" sz="1400">
                <a:latin typeface="Aptos" panose="020B0004020202020204" pitchFamily="34" charset="0"/>
              </a:rPr>
              <a:t> are alerted first — the system catches a site running hotter than usual or a flare quietly escalating, before it becomes a real emergency.</a:t>
            </a:r>
            <a:endParaRPr lang="en-IN" sz="1400">
              <a:latin typeface="Aptos" panose="020B000402020202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EDA74D6E-5C29-29F6-EDF2-CAA02E6E3054}"/>
              </a:ext>
            </a:extLst>
          </p:cNvPr>
          <p:cNvSpPr txBox="1"/>
          <p:nvPr/>
        </p:nvSpPr>
        <p:spPr>
          <a:xfrm>
            <a:off x="215587" y="2721646"/>
            <a:ext cx="6697360" cy="523220"/>
          </a:xfrm>
          <a:prstGeom prst="rect">
            <a:avLst/>
          </a:prstGeom>
          <a:noFill/>
        </p:spPr>
        <p:txBody>
          <a:bodyPr wrap="square" rtlCol="0">
            <a:spAutoFit/>
          </a:bodyPr>
          <a:lstStyle/>
          <a:p>
            <a:pPr marL="285750" lvl="0" indent="-285750" defTabSz="914400" eaLnBrk="0" hangingPunct="0">
              <a:buFont typeface="Arial" panose="020B0604020202020204" pitchFamily="34" charset="0"/>
              <a:buChar char="•"/>
            </a:pPr>
            <a:r>
              <a:rPr lang="en-US" altLang="en-US" sz="1400" b="1">
                <a:latin typeface="Aptos" panose="020B0004020202020204" pitchFamily="34" charset="0"/>
              </a:rPr>
              <a:t>Regulators</a:t>
            </a:r>
            <a:r>
              <a:rPr lang="en-US" altLang="en-US" sz="1400">
                <a:latin typeface="Aptos" panose="020B0004020202020204" pitchFamily="34" charset="0"/>
              </a:rPr>
              <a:t> step in using the same SHAP-explained trail to verify the incident without manually reviewing raw satellite data themselves. </a:t>
            </a:r>
          </a:p>
        </p:txBody>
      </p:sp>
      <p:sp>
        <p:nvSpPr>
          <p:cNvPr id="17" name="TextBox 16">
            <a:extLst>
              <a:ext uri="{FF2B5EF4-FFF2-40B4-BE49-F238E27FC236}">
                <a16:creationId xmlns:a16="http://schemas.microsoft.com/office/drawing/2014/main" id="{5610DB9A-5CDD-95D2-3D04-D89FF47D8DEB}"/>
              </a:ext>
            </a:extLst>
          </p:cNvPr>
          <p:cNvSpPr txBox="1"/>
          <p:nvPr/>
        </p:nvSpPr>
        <p:spPr>
          <a:xfrm>
            <a:off x="7115758" y="1329170"/>
            <a:ext cx="4827217" cy="892552"/>
          </a:xfrm>
          <a:prstGeom prst="rect">
            <a:avLst/>
          </a:prstGeom>
          <a:noFill/>
        </p:spPr>
        <p:txBody>
          <a:bodyPr wrap="square" rtlCol="0">
            <a:spAutoFit/>
          </a:bodyPr>
          <a:lstStyle/>
          <a:p>
            <a:pPr marL="285750" lvl="0" indent="-285750" defTabSz="914400" eaLnBrk="0" hangingPunct="0">
              <a:buFont typeface="Arial" panose="020B0604020202020204" pitchFamily="34" charset="0"/>
              <a:buChar char="•"/>
            </a:pPr>
            <a:r>
              <a:rPr lang="en-US" altLang="en-US" sz="1300" b="1">
                <a:latin typeface="Aptos" panose="020B0004020202020204" pitchFamily="34" charset="0"/>
              </a:rPr>
              <a:t>For facility operators</a:t>
            </a:r>
            <a:r>
              <a:rPr lang="en-US" altLang="en-US" sz="1300">
                <a:latin typeface="Aptos" panose="020B0004020202020204" pitchFamily="34" charset="0"/>
              </a:rPr>
              <a:t> – Real-time thermal monitoring catches their own site running hotter than normal, or a flare quietly escalating, before it becomes a reportable emergency. </a:t>
            </a:r>
          </a:p>
        </p:txBody>
      </p:sp>
      <p:sp>
        <p:nvSpPr>
          <p:cNvPr id="18" name="TextBox 17">
            <a:extLst>
              <a:ext uri="{FF2B5EF4-FFF2-40B4-BE49-F238E27FC236}">
                <a16:creationId xmlns:a16="http://schemas.microsoft.com/office/drawing/2014/main" id="{D8AE4FC9-4D45-08EA-066A-5817E67ACEF7}"/>
              </a:ext>
            </a:extLst>
          </p:cNvPr>
          <p:cNvSpPr txBox="1"/>
          <p:nvPr/>
        </p:nvSpPr>
        <p:spPr>
          <a:xfrm>
            <a:off x="7115758" y="2992997"/>
            <a:ext cx="4787182" cy="892552"/>
          </a:xfrm>
          <a:prstGeom prst="rect">
            <a:avLst/>
          </a:prstGeom>
          <a:noFill/>
        </p:spPr>
        <p:txBody>
          <a:bodyPr wrap="square" rtlCol="0">
            <a:spAutoFit/>
          </a:bodyPr>
          <a:lstStyle/>
          <a:p>
            <a:pPr marL="285750" lvl="0" indent="-285750" defTabSz="914400" eaLnBrk="0" hangingPunct="0">
              <a:buFont typeface="Arial" panose="020B0604020202020204" pitchFamily="34" charset="0"/>
              <a:buChar char="•"/>
            </a:pPr>
            <a:r>
              <a:rPr lang="en-US" altLang="en-US" sz="1300" b="1">
                <a:latin typeface="Aptos" panose="020B0004020202020204" pitchFamily="34" charset="0"/>
              </a:rPr>
              <a:t>For disaster response teams</a:t>
            </a:r>
            <a:r>
              <a:rPr lang="en-US" altLang="en-US" sz="1300">
                <a:latin typeface="Aptos" panose="020B0004020202020204" pitchFamily="34" charset="0"/>
              </a:rPr>
              <a:t> – Every alert already carries measurable fire intensity in megawatts, letting them prioritize a 500 MW event over a 20 MW one instead of treating all alerts equally. </a:t>
            </a:r>
          </a:p>
        </p:txBody>
      </p:sp>
      <p:sp>
        <p:nvSpPr>
          <p:cNvPr id="19" name="TextBox 18">
            <a:extLst>
              <a:ext uri="{FF2B5EF4-FFF2-40B4-BE49-F238E27FC236}">
                <a16:creationId xmlns:a16="http://schemas.microsoft.com/office/drawing/2014/main" id="{7AC36C28-268D-CD5C-AB16-A199501D3F93}"/>
              </a:ext>
            </a:extLst>
          </p:cNvPr>
          <p:cNvSpPr txBox="1"/>
          <p:nvPr/>
        </p:nvSpPr>
        <p:spPr>
          <a:xfrm>
            <a:off x="7115758" y="4540359"/>
            <a:ext cx="4561142" cy="692497"/>
          </a:xfrm>
          <a:prstGeom prst="rect">
            <a:avLst/>
          </a:prstGeom>
          <a:noFill/>
        </p:spPr>
        <p:txBody>
          <a:bodyPr wrap="square" rtlCol="0">
            <a:spAutoFit/>
          </a:bodyPr>
          <a:lstStyle/>
          <a:p>
            <a:pPr marL="285750" lvl="0" indent="-285750" defTabSz="914400" eaLnBrk="0" hangingPunct="0">
              <a:buFont typeface="Arial" panose="020B0604020202020204" pitchFamily="34" charset="0"/>
              <a:buChar char="•"/>
            </a:pPr>
            <a:r>
              <a:rPr lang="en-US" altLang="en-US" sz="1300" b="1">
                <a:latin typeface="Aptos" panose="020B0004020202020204" pitchFamily="34" charset="0"/>
              </a:rPr>
              <a:t>For analysts and reviewers</a:t>
            </a:r>
            <a:r>
              <a:rPr lang="en-US" altLang="en-US" sz="1300">
                <a:latin typeface="Aptos" panose="020B0004020202020204" pitchFamily="34" charset="0"/>
              </a:rPr>
              <a:t> – Every flagged event carries a SHAP-generated plain-language reason they can actually verify, not an unexplained black-box score. </a:t>
            </a:r>
          </a:p>
        </p:txBody>
      </p:sp>
      <p:sp>
        <p:nvSpPr>
          <p:cNvPr id="2" name="TextBox 1">
            <a:extLst>
              <a:ext uri="{FF2B5EF4-FFF2-40B4-BE49-F238E27FC236}">
                <a16:creationId xmlns:a16="http://schemas.microsoft.com/office/drawing/2014/main" id="{E733C793-BAFC-CAEC-8122-28BFDE9D82DF}"/>
              </a:ext>
            </a:extLst>
          </p:cNvPr>
          <p:cNvSpPr txBox="1"/>
          <p:nvPr/>
        </p:nvSpPr>
        <p:spPr>
          <a:xfrm>
            <a:off x="7128945" y="3867224"/>
            <a:ext cx="4951778" cy="692497"/>
          </a:xfrm>
          <a:prstGeom prst="rect">
            <a:avLst/>
          </a:prstGeom>
          <a:noFill/>
        </p:spPr>
        <p:txBody>
          <a:bodyPr wrap="square" rtlCol="0">
            <a:spAutoFit/>
          </a:bodyPr>
          <a:lstStyle/>
          <a:p>
            <a:pPr marL="285750" lvl="0" indent="-285750" defTabSz="914400" eaLnBrk="0" hangingPunct="0">
              <a:buFont typeface="Arial" panose="020B0604020202020204" pitchFamily="34" charset="0"/>
              <a:buChar char="•"/>
            </a:pPr>
            <a:r>
              <a:rPr lang="en-US" altLang="en-US" sz="1300" b="1">
                <a:latin typeface="Aptos" panose="020B0004020202020204" pitchFamily="34" charset="0"/>
              </a:rPr>
              <a:t>For the whole response chain</a:t>
            </a:r>
            <a:r>
              <a:rPr lang="en-US" altLang="en-US" sz="1300">
                <a:latin typeface="Aptos" panose="020B0004020202020204" pitchFamily="34" charset="0"/>
              </a:rPr>
              <a:t> – Optical confirmation, FRP, and flare-data access can fail independently without ever blocking or hiding a genuine alert underneath them. </a:t>
            </a:r>
          </a:p>
        </p:txBody>
      </p:sp>
      <p:sp>
        <p:nvSpPr>
          <p:cNvPr id="24" name="TextBox 23">
            <a:extLst>
              <a:ext uri="{FF2B5EF4-FFF2-40B4-BE49-F238E27FC236}">
                <a16:creationId xmlns:a16="http://schemas.microsoft.com/office/drawing/2014/main" id="{535353D7-1A89-32E6-78E3-50F88979F4CF}"/>
              </a:ext>
            </a:extLst>
          </p:cNvPr>
          <p:cNvSpPr txBox="1"/>
          <p:nvPr/>
        </p:nvSpPr>
        <p:spPr>
          <a:xfrm>
            <a:off x="202082" y="3323940"/>
            <a:ext cx="6629767" cy="523220"/>
          </a:xfrm>
          <a:prstGeom prst="rect">
            <a:avLst/>
          </a:prstGeom>
          <a:noFill/>
        </p:spPr>
        <p:txBody>
          <a:bodyPr wrap="square" rtlCol="0">
            <a:spAutoFit/>
          </a:bodyPr>
          <a:lstStyle/>
          <a:p>
            <a:pPr marL="285750" indent="-285750">
              <a:buFont typeface="Arial" panose="020B0604020202020204" pitchFamily="34" charset="0"/>
              <a:buChar char="•"/>
            </a:pPr>
            <a:r>
              <a:rPr lang="en-GB" sz="1400" b="1">
                <a:latin typeface="Aptos" panose="020B0004020202020204" pitchFamily="34" charset="0"/>
              </a:rPr>
              <a:t>Nearby communities</a:t>
            </a:r>
            <a:r>
              <a:rPr lang="en-GB" sz="1400">
                <a:latin typeface="Aptos" panose="020B0004020202020204" pitchFamily="34" charset="0"/>
              </a:rPr>
              <a:t> stay protected throughout — not through their own awareness, but because every step before them moved faster.</a:t>
            </a:r>
            <a:endParaRPr lang="en-GB" sz="1400">
              <a:effectLst/>
              <a:latin typeface="Aptos" panose="020B0004020202020204" pitchFamily="34" charset="0"/>
            </a:endParaRPr>
          </a:p>
        </p:txBody>
      </p:sp>
      <p:sp>
        <p:nvSpPr>
          <p:cNvPr id="26" name="TextBox 25">
            <a:extLst>
              <a:ext uri="{FF2B5EF4-FFF2-40B4-BE49-F238E27FC236}">
                <a16:creationId xmlns:a16="http://schemas.microsoft.com/office/drawing/2014/main" id="{E4E3B4F8-6D04-9828-2BB0-7D46D7143B62}"/>
              </a:ext>
            </a:extLst>
          </p:cNvPr>
          <p:cNvSpPr txBox="1"/>
          <p:nvPr/>
        </p:nvSpPr>
        <p:spPr>
          <a:xfrm>
            <a:off x="7119425" y="2170025"/>
            <a:ext cx="4866198" cy="1446550"/>
          </a:xfrm>
          <a:prstGeom prst="rect">
            <a:avLst/>
          </a:prstGeom>
          <a:noFill/>
        </p:spPr>
        <p:txBody>
          <a:bodyPr wrap="square" rtlCol="0">
            <a:spAutoFit/>
          </a:bodyPr>
          <a:lstStyle/>
          <a:p>
            <a:pPr marL="285750" lvl="0" indent="-285750" defTabSz="914400" eaLnBrk="0" hangingPunct="0">
              <a:buFont typeface="Arial" panose="020B0604020202020204" pitchFamily="34" charset="0"/>
              <a:buChar char="•"/>
            </a:pPr>
            <a:r>
              <a:rPr lang="en-US" altLang="en-US" sz="1300" b="1">
                <a:latin typeface="Aptos" panose="020B0004020202020204" pitchFamily="34" charset="0"/>
              </a:rPr>
              <a:t>For regulators</a:t>
            </a:r>
            <a:r>
              <a:rPr lang="en-US" altLang="en-US" sz="1300">
                <a:latin typeface="Aptos" panose="020B0004020202020204" pitchFamily="34" charset="0"/>
              </a:rPr>
              <a:t> – A six-way classification separates industrial fire from wildfire, mining, gas flare, and farm burning, preventing wasted enforcement action on non-industrial heat sources. </a:t>
            </a:r>
          </a:p>
          <a:p>
            <a:br>
              <a:rPr lang="en-GB"/>
            </a:br>
            <a:endParaRPr lang="en-IN"/>
          </a:p>
        </p:txBody>
      </p:sp>
      <p:sp>
        <p:nvSpPr>
          <p:cNvPr id="13" name="TextBox 12">
            <a:extLst>
              <a:ext uri="{FF2B5EF4-FFF2-40B4-BE49-F238E27FC236}">
                <a16:creationId xmlns:a16="http://schemas.microsoft.com/office/drawing/2014/main" id="{95F80AAD-7C35-0DEF-2CC8-19388AC02791}"/>
              </a:ext>
            </a:extLst>
          </p:cNvPr>
          <p:cNvSpPr txBox="1"/>
          <p:nvPr/>
        </p:nvSpPr>
        <p:spPr>
          <a:xfrm>
            <a:off x="7119425" y="5214531"/>
            <a:ext cx="4916245" cy="1169551"/>
          </a:xfrm>
          <a:prstGeom prst="rect">
            <a:avLst/>
          </a:prstGeom>
          <a:noFill/>
        </p:spPr>
        <p:txBody>
          <a:bodyPr wrap="square" rtlCol="0">
            <a:spAutoFit/>
          </a:bodyPr>
          <a:lstStyle/>
          <a:p>
            <a:pPr marL="285750" indent="-285750">
              <a:buFont typeface="Arial" panose="020B0604020202020204" pitchFamily="34" charset="0"/>
              <a:buChar char="•"/>
            </a:pPr>
            <a:r>
              <a:rPr lang="en-GB" sz="1300" b="1">
                <a:latin typeface="Aptos" panose="020B0004020202020204" pitchFamily="34" charset="0"/>
              </a:rPr>
              <a:t>For the nation's safety infrastructure</a:t>
            </a:r>
            <a:r>
              <a:rPr lang="en-GB" sz="1300">
                <a:latin typeface="Aptos" panose="020B0004020202020204" pitchFamily="34" charset="0"/>
              </a:rPr>
              <a:t> – Built on INSAT, Bhuvan, and Resourcesat wherever possible, reducing dependency on foreign satellites for a critical, sovereign monitoring system.</a:t>
            </a:r>
          </a:p>
          <a:p>
            <a:endParaRPr lang="en-IN"/>
          </a:p>
        </p:txBody>
      </p:sp>
      <p:pic>
        <p:nvPicPr>
          <p:cNvPr id="15" name="Picture 14">
            <a:extLst>
              <a:ext uri="{FF2B5EF4-FFF2-40B4-BE49-F238E27FC236}">
                <a16:creationId xmlns:a16="http://schemas.microsoft.com/office/drawing/2014/main" id="{1772CAC3-EE6F-00D8-CADD-B7EAE72D8AC5}"/>
              </a:ext>
            </a:extLst>
          </p:cNvPr>
          <p:cNvPicPr>
            <a:picLocks noChangeAspect="1"/>
          </p:cNvPicPr>
          <p:nvPr/>
        </p:nvPicPr>
        <p:blipFill>
          <a:blip r:embed="rId3"/>
          <a:stretch>
            <a:fillRect/>
          </a:stretch>
        </p:blipFill>
        <p:spPr>
          <a:xfrm>
            <a:off x="202082" y="3847160"/>
            <a:ext cx="6697360" cy="2144566"/>
          </a:xfrm>
          <a:prstGeom prst="rect">
            <a:avLst/>
          </a:prstGeom>
        </p:spPr>
      </p:pic>
    </p:spTree>
    <p:extLst>
      <p:ext uri="{BB962C8B-B14F-4D97-AF65-F5344CB8AC3E}">
        <p14:creationId xmlns:p14="http://schemas.microsoft.com/office/powerpoint/2010/main" val="2249663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0528C-6FA4-A811-B0B1-42402810F9D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F9FBDC3-CC66-C8BB-4FD3-7B064B7FDDE3}"/>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a:extLst>
              <a:ext uri="{FF2B5EF4-FFF2-40B4-BE49-F238E27FC236}">
                <a16:creationId xmlns:a16="http://schemas.microsoft.com/office/drawing/2014/main" id="{978FC851-D08B-DC10-F7DD-A1FFB8BDFD1A}"/>
              </a:ext>
            </a:extLst>
          </p:cNvPr>
          <p:cNvSpPr>
            <a:spLocks noGrp="1"/>
          </p:cNvSpPr>
          <p:nvPr>
            <p:ph type="title"/>
          </p:nvPr>
        </p:nvSpPr>
        <p:spPr>
          <a:xfrm>
            <a:off x="-81033" y="0"/>
            <a:ext cx="12354064" cy="1141502"/>
          </a:xfrm>
        </p:spPr>
        <p:txBody>
          <a:bodyPr/>
          <a:lstStyle/>
          <a:p>
            <a:pPr eaLnBrk="1" hangingPunct="1"/>
            <a:r>
              <a:rPr lang="en-US" sz="3000" dirty="0">
                <a:ea typeface="ＭＳ Ｐゴシック" pitchFamily="1" charset="-128"/>
                <a:cs typeface="Times New Roman" panose="02020603050405020304" pitchFamily="18" charset="0"/>
              </a:rPr>
              <a:t>RESEARCH  AND REFERENCES</a:t>
            </a:r>
          </a:p>
        </p:txBody>
      </p:sp>
      <p:sp>
        <p:nvSpPr>
          <p:cNvPr id="6" name="Slide Number Placeholder 5">
            <a:extLst>
              <a:ext uri="{FF2B5EF4-FFF2-40B4-BE49-F238E27FC236}">
                <a16:creationId xmlns:a16="http://schemas.microsoft.com/office/drawing/2014/main" id="{0276A738-0671-7914-7082-52645A799F09}"/>
              </a:ext>
            </a:extLst>
          </p:cNvPr>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a:extLst>
              <a:ext uri="{FF2B5EF4-FFF2-40B4-BE49-F238E27FC236}">
                <a16:creationId xmlns:a16="http://schemas.microsoft.com/office/drawing/2014/main" id="{49F23121-BA2D-B73F-257E-42D5D363C940}"/>
              </a:ext>
            </a:extLst>
          </p:cNvPr>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adeGothic"/>
                <a:ea typeface="+mn-ea"/>
                <a:cs typeface="+mn-cs"/>
              </a:rPr>
              <a:t>@SIH Idea submission</a:t>
            </a:r>
          </a:p>
        </p:txBody>
      </p:sp>
      <p:sp>
        <p:nvSpPr>
          <p:cNvPr id="2" name="Rectangle: Rounded Corners 1">
            <a:extLst>
              <a:ext uri="{FF2B5EF4-FFF2-40B4-BE49-F238E27FC236}">
                <a16:creationId xmlns:a16="http://schemas.microsoft.com/office/drawing/2014/main" id="{903B5D53-D5F7-7791-8C5A-D6C7E5A00F84}"/>
              </a:ext>
            </a:extLst>
          </p:cNvPr>
          <p:cNvSpPr/>
          <p:nvPr/>
        </p:nvSpPr>
        <p:spPr>
          <a:xfrm>
            <a:off x="144379" y="3521242"/>
            <a:ext cx="8831179" cy="2696998"/>
          </a:xfrm>
          <a:prstGeom prst="roundRect">
            <a:avLst>
              <a:gd name="adj" fmla="val 7745"/>
            </a:avLst>
          </a:prstGeom>
          <a:solidFill>
            <a:schemeClr val="bg1"/>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1BCEB6C4-B0BC-3552-BC7C-0FDC3F19B857}"/>
              </a:ext>
            </a:extLst>
          </p:cNvPr>
          <p:cNvSpPr txBox="1"/>
          <p:nvPr/>
        </p:nvSpPr>
        <p:spPr>
          <a:xfrm>
            <a:off x="144379" y="3560746"/>
            <a:ext cx="8831179" cy="2862322"/>
          </a:xfrm>
          <a:prstGeom prst="rect">
            <a:avLst/>
          </a:prstGeom>
          <a:noFill/>
        </p:spPr>
        <p:txBody>
          <a:bodyPr wrap="square" rtlCol="0">
            <a:spAutoFit/>
          </a:bodyPr>
          <a:lstStyle/>
          <a:p>
            <a:r>
              <a:rPr lang="en-IN" sz="1200" b="1" i="1">
                <a:latin typeface="Aptos" panose="020B0004020202020204" pitchFamily="34" charset="0"/>
              </a:rPr>
              <a:t>Liu et al. (2018)</a:t>
            </a:r>
            <a:r>
              <a:rPr lang="en-IN" sz="1200" i="1">
                <a:latin typeface="Aptos" panose="020B0004020202020204" pitchFamily="34" charset="0"/>
              </a:rPr>
              <a:t> — VIIRS Nightfire for Industrial Heat Sources, </a:t>
            </a:r>
            <a:r>
              <a:rPr lang="en-IN" sz="1200" b="1" i="1">
                <a:latin typeface="Aptos" panose="020B0004020202020204" pitchFamily="34" charset="0"/>
              </a:rPr>
              <a:t>Journal</a:t>
            </a:r>
            <a:r>
              <a:rPr lang="en-IN" sz="1200" i="1">
                <a:latin typeface="Aptos" panose="020B0004020202020204" pitchFamily="34" charset="0"/>
              </a:rPr>
              <a:t>: Remote Sensing of Environment — directly underpins your Flare Pre-Filter, the core mechanism separating gas flares from industrial fires. </a:t>
            </a:r>
            <a:r>
              <a:rPr lang="en-IN" sz="1200">
                <a:latin typeface="Aptos" panose="020B0004020202020204" pitchFamily="34" charset="0"/>
                <a:hlinkClick r:id="rId3"/>
              </a:rPr>
              <a:t>link</a:t>
            </a:r>
            <a:endParaRPr lang="en-IN" sz="1200">
              <a:latin typeface="Aptos" panose="020B0004020202020204" pitchFamily="34" charset="0"/>
            </a:endParaRPr>
          </a:p>
          <a:p>
            <a:endParaRPr lang="en-IN" sz="1200" i="1">
              <a:latin typeface="Aptos" panose="020B0004020202020204" pitchFamily="34" charset="0"/>
            </a:endParaRPr>
          </a:p>
          <a:p>
            <a:r>
              <a:rPr lang="en-IN" sz="1200" b="1" i="1">
                <a:latin typeface="Aptos" panose="020B0004020202020204" pitchFamily="34" charset="0"/>
              </a:rPr>
              <a:t>[XGBoost vs Random Forest FIRMS/MODIS fire-type classification study, 2023]</a:t>
            </a:r>
            <a:r>
              <a:rPr lang="en-IN" sz="1200" i="1">
                <a:latin typeface="Aptos" panose="020B0004020202020204" pitchFamily="34" charset="0"/>
              </a:rPr>
              <a:t> — validates your single-model architecture decision in Step 7, the heart of your six-class classification system. </a:t>
            </a:r>
            <a:r>
              <a:rPr lang="en-IN" sz="1200">
                <a:latin typeface="Aptos" panose="020B0004020202020204" pitchFamily="34" charset="0"/>
                <a:hlinkClick r:id="rId4"/>
              </a:rPr>
              <a:t>link</a:t>
            </a:r>
            <a:endParaRPr lang="en-IN" sz="1200" i="1">
              <a:latin typeface="Aptos" panose="020B0004020202020204" pitchFamily="34" charset="0"/>
            </a:endParaRPr>
          </a:p>
          <a:p>
            <a:endParaRPr lang="en-IN" sz="1200" i="1">
              <a:latin typeface="Aptos" panose="020B0004020202020204" pitchFamily="34" charset="0"/>
            </a:endParaRPr>
          </a:p>
          <a:p>
            <a:r>
              <a:rPr lang="en-IN" sz="1200" b="1" i="1">
                <a:latin typeface="Aptos" panose="020B0004020202020204" pitchFamily="34" charset="0"/>
              </a:rPr>
              <a:t>Si et al. (2026)</a:t>
            </a:r>
            <a:r>
              <a:rPr lang="en-IN" sz="1200" i="1">
                <a:latin typeface="Aptos" panose="020B0004020202020204" pitchFamily="34" charset="0"/>
              </a:rPr>
              <a:t> — Offshore Platform Flare Detection, </a:t>
            </a:r>
            <a:r>
              <a:rPr lang="en-IN" sz="1200" b="1" i="1">
                <a:latin typeface="Aptos" panose="020B0004020202020204" pitchFamily="34" charset="0"/>
              </a:rPr>
              <a:t>Journal</a:t>
            </a:r>
            <a:r>
              <a:rPr lang="en-IN" sz="1200" i="1">
                <a:latin typeface="Aptos" panose="020B0004020202020204" pitchFamily="34" charset="0"/>
              </a:rPr>
              <a:t>: ESSD — Sentinel-2 SWIR+TAI methodology behind your daytime flare detection, the biggest genuine innovation in your workflow.</a:t>
            </a:r>
            <a:r>
              <a:rPr lang="en-IN" sz="1200" i="1">
                <a:latin typeface="Aptos" panose="020B0004020202020204" pitchFamily="34" charset="0"/>
                <a:hlinkClick r:id="rId5"/>
              </a:rPr>
              <a:t> </a:t>
            </a:r>
            <a:r>
              <a:rPr lang="en-IN" sz="1200">
                <a:latin typeface="Aptos" panose="020B0004020202020204" pitchFamily="34" charset="0"/>
                <a:hlinkClick r:id="rId6"/>
              </a:rPr>
              <a:t>link</a:t>
            </a:r>
            <a:endParaRPr lang="en-IN" sz="1200" i="1">
              <a:latin typeface="Aptos" panose="020B0004020202020204" pitchFamily="34" charset="0"/>
            </a:endParaRPr>
          </a:p>
          <a:p>
            <a:endParaRPr lang="en-IN" sz="1200" i="1">
              <a:latin typeface="Aptos" panose="020B0004020202020204" pitchFamily="34" charset="0"/>
            </a:endParaRPr>
          </a:p>
          <a:p>
            <a:r>
              <a:rPr lang="en-IN" sz="1200" b="1" i="1">
                <a:latin typeface="Aptos" panose="020B0004020202020204" pitchFamily="34" charset="0"/>
              </a:rPr>
              <a:t>[PFM/SHM-Aware Spatiotemporal Contextual Fire Detection] (2026)</a:t>
            </a:r>
            <a:r>
              <a:rPr lang="en-IN" sz="1200" i="1">
                <a:latin typeface="Aptos" panose="020B0004020202020204" pitchFamily="34" charset="0"/>
              </a:rPr>
              <a:t> — </a:t>
            </a:r>
            <a:r>
              <a:rPr lang="en-IN" sz="1200" b="1" i="1">
                <a:latin typeface="Aptos" panose="020B0004020202020204" pitchFamily="34" charset="0"/>
              </a:rPr>
              <a:t>Journal</a:t>
            </a:r>
            <a:r>
              <a:rPr lang="en-IN" sz="1200" i="1">
                <a:latin typeface="Aptos" panose="020B0004020202020204" pitchFamily="34" charset="0"/>
              </a:rPr>
              <a:t>: Remote Sensing — supports your industrial false-positive reduction logic, directly tied to your strongest quantitative claim (88.6%→22.7% FP reduction). </a:t>
            </a:r>
            <a:r>
              <a:rPr lang="en-IN" sz="1200">
                <a:latin typeface="Aptos" panose="020B0004020202020204" pitchFamily="34" charset="0"/>
                <a:hlinkClick r:id="rId5"/>
              </a:rPr>
              <a:t>link</a:t>
            </a:r>
            <a:endParaRPr lang="en-IN" sz="1200" i="1">
              <a:latin typeface="Aptos" panose="020B0004020202020204" pitchFamily="34" charset="0"/>
            </a:endParaRPr>
          </a:p>
          <a:p>
            <a:endParaRPr lang="en-IN" sz="1200" i="1">
              <a:latin typeface="Aptos" panose="020B0004020202020204" pitchFamily="34" charset="0"/>
            </a:endParaRPr>
          </a:p>
          <a:p>
            <a:r>
              <a:rPr lang="en-IN" sz="1200" b="1" i="1">
                <a:latin typeface="Aptos" panose="020B0004020202020204" pitchFamily="34" charset="0"/>
              </a:rPr>
              <a:t>Iban &amp; Aksu (2024)</a:t>
            </a:r>
            <a:r>
              <a:rPr lang="en-IN" sz="1200" i="1">
                <a:latin typeface="Aptos" panose="020B0004020202020204" pitchFamily="34" charset="0"/>
              </a:rPr>
              <a:t> — SHAP-Driven Explainable AI Framework for Wildfire Susceptibility Mapping, </a:t>
            </a:r>
            <a:r>
              <a:rPr lang="en-IN" sz="1200" b="1" i="1">
                <a:latin typeface="Aptos" panose="020B0004020202020204" pitchFamily="34" charset="0"/>
              </a:rPr>
              <a:t>Journal</a:t>
            </a:r>
            <a:r>
              <a:rPr lang="en-IN" sz="1200" i="1">
                <a:latin typeface="Aptos" panose="020B0004020202020204" pitchFamily="34" charset="0"/>
              </a:rPr>
              <a:t>: Remote Sensing — validates your Explainable AI step, a key differentiator for judges. </a:t>
            </a:r>
            <a:r>
              <a:rPr lang="en-IN" sz="1200">
                <a:latin typeface="Aptos" panose="020B0004020202020204" pitchFamily="34" charset="0"/>
                <a:hlinkClick r:id="rId7"/>
              </a:rPr>
              <a:t>link</a:t>
            </a:r>
            <a:endParaRPr lang="en-IN" sz="1200" i="1">
              <a:latin typeface="Aptos" panose="020B0004020202020204" pitchFamily="34" charset="0"/>
            </a:endParaRPr>
          </a:p>
          <a:p>
            <a:endParaRPr lang="en-IN" sz="1200" i="1">
              <a:latin typeface="Aptos" panose="020B0004020202020204" pitchFamily="34" charset="0"/>
            </a:endParaRPr>
          </a:p>
        </p:txBody>
      </p:sp>
      <p:sp>
        <p:nvSpPr>
          <p:cNvPr id="9" name="Rectangle: Rounded Corners 8">
            <a:extLst>
              <a:ext uri="{FF2B5EF4-FFF2-40B4-BE49-F238E27FC236}">
                <a16:creationId xmlns:a16="http://schemas.microsoft.com/office/drawing/2014/main" id="{27CCB073-A588-97A6-0BB7-3498C4B3C3E8}"/>
              </a:ext>
            </a:extLst>
          </p:cNvPr>
          <p:cNvSpPr/>
          <p:nvPr/>
        </p:nvSpPr>
        <p:spPr>
          <a:xfrm>
            <a:off x="9055768" y="3521242"/>
            <a:ext cx="2751221" cy="2696998"/>
          </a:xfrm>
          <a:prstGeom prst="roundRect">
            <a:avLst>
              <a:gd name="adj" fmla="val 7745"/>
            </a:avLst>
          </a:prstGeom>
          <a:solidFill>
            <a:srgbClr val="FFFFFF"/>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88EE542A-C980-196F-10FA-E4E342D4FA76}"/>
              </a:ext>
            </a:extLst>
          </p:cNvPr>
          <p:cNvSpPr/>
          <p:nvPr/>
        </p:nvSpPr>
        <p:spPr>
          <a:xfrm>
            <a:off x="449179" y="1251322"/>
            <a:ext cx="3288632" cy="2125415"/>
          </a:xfrm>
          <a:prstGeom prst="roundRect">
            <a:avLst>
              <a:gd name="adj" fmla="val 5345"/>
            </a:avLst>
          </a:prstGeom>
          <a:solidFill>
            <a:schemeClr val="bg1"/>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A472279F-8372-BACB-39FC-F65EAF1B294F}"/>
              </a:ext>
            </a:extLst>
          </p:cNvPr>
          <p:cNvSpPr/>
          <p:nvPr/>
        </p:nvSpPr>
        <p:spPr>
          <a:xfrm>
            <a:off x="7922801" y="1237835"/>
            <a:ext cx="3288632" cy="2125415"/>
          </a:xfrm>
          <a:prstGeom prst="roundRect">
            <a:avLst>
              <a:gd name="adj" fmla="val 4591"/>
            </a:avLst>
          </a:prstGeom>
          <a:solidFill>
            <a:schemeClr val="bg1"/>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75F5081D-8ED2-755A-C322-019DF1394079}"/>
              </a:ext>
            </a:extLst>
          </p:cNvPr>
          <p:cNvSpPr/>
          <p:nvPr/>
        </p:nvSpPr>
        <p:spPr>
          <a:xfrm>
            <a:off x="4150689" y="1251322"/>
            <a:ext cx="3288632" cy="2125415"/>
          </a:xfrm>
          <a:prstGeom prst="roundRect">
            <a:avLst>
              <a:gd name="adj" fmla="val 4591"/>
            </a:avLst>
          </a:prstGeom>
          <a:solidFill>
            <a:schemeClr val="bg1"/>
          </a:solidFill>
          <a:ln w="6350">
            <a:solidFill>
              <a:srgbClr val="01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46E68A84-8992-95D7-8B7C-8CD9DDCF061F}"/>
              </a:ext>
            </a:extLst>
          </p:cNvPr>
          <p:cNvSpPr txBox="1"/>
          <p:nvPr/>
        </p:nvSpPr>
        <p:spPr>
          <a:xfrm>
            <a:off x="9188771" y="3532277"/>
            <a:ext cx="615490" cy="307777"/>
          </a:xfrm>
          <a:prstGeom prst="rect">
            <a:avLst/>
          </a:prstGeom>
          <a:noFill/>
        </p:spPr>
        <p:txBody>
          <a:bodyPr wrap="none" rtlCol="0">
            <a:spAutoFit/>
          </a:bodyPr>
          <a:lstStyle/>
          <a:p>
            <a:r>
              <a:rPr lang="en-GB" sz="1400" b="1">
                <a:latin typeface="Aptos" panose="020B0004020202020204" pitchFamily="34" charset="0"/>
                <a:ea typeface="Calibri" panose="020F0502020204030204" pitchFamily="34" charset="0"/>
                <a:cs typeface="Calibri" panose="020F0502020204030204" pitchFamily="34" charset="0"/>
              </a:rPr>
              <a:t>Links</a:t>
            </a:r>
            <a:endParaRPr lang="en-IN" sz="1400" b="1">
              <a:latin typeface="Aptos" panose="020B000402020202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42B59CB-A37C-A7C4-D6F9-B6BE2C6B0FFE}"/>
              </a:ext>
            </a:extLst>
          </p:cNvPr>
          <p:cNvSpPr txBox="1"/>
          <p:nvPr/>
        </p:nvSpPr>
        <p:spPr>
          <a:xfrm>
            <a:off x="410662" y="1355958"/>
            <a:ext cx="3407358" cy="1938992"/>
          </a:xfrm>
          <a:prstGeom prst="rect">
            <a:avLst/>
          </a:prstGeom>
          <a:noFill/>
        </p:spPr>
        <p:txBody>
          <a:bodyPr wrap="square" rtlCol="0">
            <a:spAutoFit/>
          </a:bodyPr>
          <a:lstStyle/>
          <a:p>
            <a:pPr algn="ctr"/>
            <a:r>
              <a:rPr lang="en-GB" sz="1200" b="1">
                <a:latin typeface="Aptos" panose="020B0004020202020204" pitchFamily="34" charset="0"/>
              </a:rPr>
              <a:t>1. Government/Official Data Sources</a:t>
            </a:r>
            <a:r>
              <a:rPr lang="en-GB" sz="1200">
                <a:latin typeface="Aptos" panose="020B0004020202020204" pitchFamily="34" charset="0"/>
              </a:rPr>
              <a:t> – From a research standpoint, grounding a system in authorized government data (MOSDAC/ISRO, Bhuvan/NRSC, CPCB) rather than scraped or assumed data strengthens reproducibility and institutional trust. It signals the research isn't theoretical — it's built on verifiable, sanctioned sources a reviewing body can independently audit, cross-check, or extend without questioning data provenance.</a:t>
            </a:r>
            <a:endParaRPr lang="en-IN" sz="1200">
              <a:latin typeface="Aptos" panose="020B0004020202020204" pitchFamily="34" charset="0"/>
            </a:endParaRPr>
          </a:p>
        </p:txBody>
      </p:sp>
      <p:sp>
        <p:nvSpPr>
          <p:cNvPr id="12" name="TextBox 11">
            <a:extLst>
              <a:ext uri="{FF2B5EF4-FFF2-40B4-BE49-F238E27FC236}">
                <a16:creationId xmlns:a16="http://schemas.microsoft.com/office/drawing/2014/main" id="{FEEA5BE6-9FC1-72B3-A989-92BEA0696902}"/>
              </a:ext>
            </a:extLst>
          </p:cNvPr>
          <p:cNvSpPr txBox="1"/>
          <p:nvPr/>
        </p:nvSpPr>
        <p:spPr>
          <a:xfrm>
            <a:off x="4080088" y="1361197"/>
            <a:ext cx="3429835" cy="2215991"/>
          </a:xfrm>
          <a:prstGeom prst="rect">
            <a:avLst/>
          </a:prstGeom>
          <a:noFill/>
        </p:spPr>
        <p:txBody>
          <a:bodyPr wrap="square" rtlCol="0">
            <a:spAutoFit/>
          </a:bodyPr>
          <a:lstStyle/>
          <a:p>
            <a:pPr algn="ctr"/>
            <a:r>
              <a:rPr lang="en-GB" sz="1200" b="1">
                <a:latin typeface="Aptos" panose="020B0004020202020204" pitchFamily="34" charset="0"/>
              </a:rPr>
              <a:t>2. Policy/Regulatory Context</a:t>
            </a:r>
            <a:r>
              <a:rPr lang="en-GB" sz="1200">
                <a:latin typeface="Aptos" panose="020B0004020202020204" pitchFamily="34" charset="0"/>
              </a:rPr>
              <a:t> – Situating research within existing government frameworks (disaster management mandates, environmental monitoring policies) demonstrates the work isn't isolated academic exercise but addresses a recognized institutional need. This alignment matters for adoption feasibility — research disconnected from policy context often fails to transition from prototype to actual deployment, regardless of technical merit.</a:t>
            </a:r>
          </a:p>
          <a:p>
            <a:endParaRPr lang="en-IN"/>
          </a:p>
        </p:txBody>
      </p:sp>
      <p:sp>
        <p:nvSpPr>
          <p:cNvPr id="8" name="TextBox 7">
            <a:extLst>
              <a:ext uri="{FF2B5EF4-FFF2-40B4-BE49-F238E27FC236}">
                <a16:creationId xmlns:a16="http://schemas.microsoft.com/office/drawing/2014/main" id="{11790F6E-0FD5-7316-B402-3DB35CDB9D91}"/>
              </a:ext>
            </a:extLst>
          </p:cNvPr>
          <p:cNvSpPr txBox="1"/>
          <p:nvPr/>
        </p:nvSpPr>
        <p:spPr>
          <a:xfrm>
            <a:off x="8082054" y="1410921"/>
            <a:ext cx="2970126" cy="2031325"/>
          </a:xfrm>
          <a:prstGeom prst="rect">
            <a:avLst/>
          </a:prstGeom>
          <a:noFill/>
        </p:spPr>
        <p:txBody>
          <a:bodyPr wrap="square" rtlCol="0">
            <a:spAutoFit/>
          </a:bodyPr>
          <a:lstStyle/>
          <a:p>
            <a:pPr algn="ctr"/>
            <a:r>
              <a:rPr lang="en-GB" sz="1200" b="1">
                <a:latin typeface="Aptos" panose="020B0004020202020204" pitchFamily="34" charset="0"/>
              </a:rPr>
              <a:t>3. Acknowledgment Line</a:t>
            </a:r>
            <a:r>
              <a:rPr lang="en-GB" sz="1200">
                <a:latin typeface="Aptos" panose="020B0004020202020204" pitchFamily="34" charset="0"/>
              </a:rPr>
              <a:t> – Proper acknowledgment of data-providing institutions is standard research ethics, not just courtesy. It maintains the chain of accountability between data source and downstream analysis, allows the provider to track usage of their infrastructure, and is frequently a stated condition of access -as MOSDAC explicitly required here.</a:t>
            </a:r>
          </a:p>
          <a:p>
            <a:endParaRPr lang="en-IN"/>
          </a:p>
        </p:txBody>
      </p:sp>
    </p:spTree>
    <p:extLst>
      <p:ext uri="{BB962C8B-B14F-4D97-AF65-F5344CB8AC3E}">
        <p14:creationId xmlns:p14="http://schemas.microsoft.com/office/powerpoint/2010/main" val="2592308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10899</TotalTime>
  <Words>2080</Words>
  <Application>Microsoft Office PowerPoint</Application>
  <PresentationFormat>Widescreen</PresentationFormat>
  <Paragraphs>119</Paragraphs>
  <Slides>6</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ＭＳ Ｐゴシック</vt:lpstr>
      <vt:lpstr>Aptos</vt:lpstr>
      <vt:lpstr>Aptos Display</vt:lpstr>
      <vt:lpstr>Arial</vt:lpstr>
      <vt:lpstr>Calibri</vt:lpstr>
      <vt:lpstr>Garamond</vt:lpstr>
      <vt:lpstr>TradeGothic</vt:lpstr>
      <vt:lpstr>Office Theme</vt:lpstr>
      <vt:lpstr>SMART INDIA HACKATHON 2026</vt:lpstr>
      <vt:lpstr>IFDCS – Industrial Fire Detection &amp; Classification System  </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sarvesh jr</cp:lastModifiedBy>
  <cp:revision>332</cp:revision>
  <dcterms:created xsi:type="dcterms:W3CDTF">2013-12-12T18:46:50Z</dcterms:created>
  <dcterms:modified xsi:type="dcterms:W3CDTF">2026-09-24T17:06:22Z</dcterms:modified>
  <cp:category/>
</cp:coreProperties>
</file>